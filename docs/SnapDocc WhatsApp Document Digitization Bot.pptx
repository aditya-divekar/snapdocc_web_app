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6"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2803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in one line. Then: "SnapDocc turns a photo into a file, right inside WhatsApp. I built it end to end: reading the image, the chat flow, the file generators and the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Everyone has paper lists or bills. Typing is slow, and the usual free OCR tool (Tesseract) is made for printed text. On my own handwritten test photo it split "Book" into "Boo k". I wanted something a normal person can use from the app they already have open: WhatsApp.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as in the demo. The bot never asks the user to resend a photo; it always processes the first one. The "edit first" question exists because no OCR is perfect, so the user can correct it before the file is made.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top to bottom. The user sends a photo; Twilio calls my webhook on Render. The webhook keeps conversation state in SQLite. The reader asks Groq's Qwen vision model for a table, or falls back to OpenCV plus Tesseract. The result is a grid of headers, rows and per-cell confidence. Either the user edits it on the web page, or it goes straight to the file generators. The file is served from a random link and Twilio delivers it to WhatsApp.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folder in the project has one clear job, which keeps the code easy to test and explain. structuring/ is the original bounding-box logic from my OCR phase (it groups words into rows and columns). With the vision model the table comes back already structured, but this module still serves the Tesseract fallback.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vision model: Tesseract matches character shapes; a vision model understands the page. On my handwritten test photo Tesseract returned "Boo k" and Qwen returned "Book". That is one photo, not a benchmark. If the AI call fails, the bot says so ("basic OCR, less accurate") instead of failing silently. That silent fallback once hid a retired model name from me, which is why the reason is now shown to the user.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makes the project honest about accuracy. No OCR is perfect, so instead of hiding mistakes, the bot shows which cells it is unsure about and lets the user fix them. The edit link is a random token that expires after 24 hours. The sample on the right is an illustration I made, not real output.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photo can contain private things like bills, so I treated storage seriously even in a capstone. Formula injection: someone could write =HYPERLINK(...) in a note and it would run when opened in Excel, so cells that start with = + - or @ are made safe. Every request is also logged (time, document type, format, engine, confidence, processing time) for the logging requirement.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yourself before a recruiter finds them. The Twilio sandbox and Render free tier are limits of the free plans, not of the code. The most valuable next step is a proper benchmark on real handwritten photos, because my current CER/WER numbers use clean generated images.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them to try it live. Remember to open the Render link first so the server is awake, and to rejoin the Twilio sandbox if it has been more than 3 days.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7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48640"/>
          </a:xfrm>
          <a:prstGeom prst="rect">
            <a:avLst/>
          </a:prstGeom>
          <a:noFill/>
          <a:ln/>
        </p:spPr>
        <p:txBody>
          <a:bodyPr wrap="square" lIns="0" tIns="0" rIns="0" bIns="0" rtlCol="0" anchor="t"/>
          <a:lstStyle>
            <a:lvl1pPr marL="0" indent="0" algn="l">
              <a:lnSpc>
                <a:spcPct val="115000"/>
              </a:lnSpc>
              <a:buNone/>
              <a:defRPr lang="en-US" sz="4000" dirty="0">
                <a:solidFill>
                  <a:srgbClr val="F6F7F4"/>
                </a:solidFill>
                <a:latin typeface="DM Sans" pitchFamily="34" charset="0"/>
                <a:ea typeface="DM Sans" pitchFamily="34" charset="-122"/>
                <a:cs typeface="DM Sans"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2016761"/>
            <a:ext cx="10566400" cy="4028439"/>
          </a:xfrm>
          <a:prstGeom prst="rect">
            <a:avLst/>
          </a:prstGeom>
          <a:noFill/>
          <a:ln/>
        </p:spPr>
        <p:txBody>
          <a:bodyPr wrap="square" lIns="0" tIns="0" rIns="0" bIns="0" rtlCol="0" anchor="t"/>
          <a:lstStyle>
            <a:lvl1pPr marL="0" indent="0" algn="l">
              <a:lnSpc>
                <a:spcPct val="140000"/>
              </a:lnSpc>
              <a:buNone/>
              <a:defRPr lang="en-US" sz="1600" dirty="0">
                <a:solidFill>
                  <a:srgbClr val="F6F7F4"/>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48640"/>
          </a:xfrm>
          <a:prstGeom prst="rect">
            <a:avLst/>
          </a:prstGeom>
          <a:noFill/>
          <a:ln/>
        </p:spPr>
        <p:txBody>
          <a:bodyPr wrap="square" lIns="0" tIns="0" rIns="0" bIns="0" rtlCol="0" anchor="t"/>
          <a:lstStyle>
            <a:lvl1pPr marL="0" indent="0" algn="l">
              <a:lnSpc>
                <a:spcPct val="115000"/>
              </a:lnSpc>
              <a:buNone/>
              <a:defRPr lang="en-US" sz="4000" dirty="0">
                <a:solidFill>
                  <a:srgbClr val="F6F7F4"/>
                </a:solidFill>
                <a:latin typeface="DM Sans" pitchFamily="34" charset="0"/>
                <a:ea typeface="DM Sans" pitchFamily="34" charset="-122"/>
                <a:cs typeface="DM Sans"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2016761"/>
            <a:ext cx="10566400" cy="4028439"/>
          </a:xfrm>
          <a:prstGeom prst="rect">
            <a:avLst/>
          </a:prstGeom>
          <a:noFill/>
          <a:ln/>
        </p:spPr>
        <p:txBody>
          <a:bodyPr wrap="square" lIns="0" tIns="0" rIns="0" bIns="0" rtlCol="0" anchor="t"/>
          <a:lstStyle>
            <a:lvl1pPr marL="0" indent="0" algn="l">
              <a:lnSpc>
                <a:spcPct val="140000"/>
              </a:lnSpc>
              <a:buNone/>
              <a:defRPr lang="en-US" sz="1600" dirty="0">
                <a:solidFill>
                  <a:srgbClr val="F6F7F4"/>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1971040"/>
            <a:ext cx="10883392" cy="27432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3" name="Text 1"/>
          <p:cNvSpPr>
            <a:spLocks noGrp="1"/>
          </p:cNvSpPr>
          <p:nvPr>
            <p:ph type="title"/>
          </p:nvPr>
        </p:nvSpPr>
        <p:spPr>
          <a:xfrm>
            <a:off x="812800" y="2499152"/>
            <a:ext cx="10883392" cy="1273629"/>
          </a:xfrm>
          <a:prstGeom prst="rect">
            <a:avLst/>
          </a:prstGeom>
          <a:noFill/>
          <a:ln/>
        </p:spPr>
        <p:txBody>
          <a:bodyPr wrap="square" lIns="0" tIns="0" rIns="0" bIns="0" rtlCol="0" anchor="t">
            <a:noAutofit/>
          </a:bodyPr>
          <a:lstStyle/>
          <a:p>
            <a:pPr marL="0" indent="0" algn="l">
              <a:lnSpc>
                <a:spcPts val="8400"/>
              </a:lnSpc>
              <a:buNone/>
            </a:pPr>
            <a:r>
              <a:rPr lang="en-US" sz="13400" b="1" i="0" dirty="0" err="1">
                <a:solidFill>
                  <a:srgbClr val="F6F7F4"/>
                </a:solidFill>
                <a:latin typeface="DM Sans" pitchFamily="34" charset="0"/>
                <a:ea typeface="DM Sans" pitchFamily="34" charset="-122"/>
                <a:cs typeface="DM Sans" pitchFamily="34" charset="-120"/>
              </a:rPr>
              <a:t>SnapDocc</a:t>
            </a:r>
            <a:r>
              <a:rPr lang="en-US" sz="13400" b="1" i="0" dirty="0">
                <a:solidFill>
                  <a:srgbClr val="F6F7F4"/>
                </a:solidFill>
                <a:latin typeface="DM Sans" pitchFamily="34" charset="0"/>
                <a:ea typeface="DM Sans" pitchFamily="34" charset="-122"/>
                <a:cs typeface="DM Sans" pitchFamily="34" charset="-120"/>
              </a:rPr>
              <a:t>.</a:t>
            </a:r>
            <a:endParaRPr lang="en-US" sz="13400" dirty="0"/>
          </a:p>
        </p:txBody>
      </p:sp>
      <p:sp>
        <p:nvSpPr>
          <p:cNvPr id="4" name="Text 2"/>
          <p:cNvSpPr/>
          <p:nvPr/>
        </p:nvSpPr>
        <p:spPr>
          <a:xfrm>
            <a:off x="812800" y="3794760"/>
            <a:ext cx="8502650" cy="914400"/>
          </a:xfrm>
          <a:prstGeom prst="rect">
            <a:avLst/>
          </a:prstGeom>
          <a:noFill/>
          <a:ln/>
        </p:spPr>
        <p:txBody>
          <a:bodyPr wrap="square" lIns="0" tIns="0" rIns="0" bIns="0" rtlCol="0" anchor="t">
            <a:normAutofit/>
          </a:bodyPr>
          <a:lstStyle/>
          <a:p>
            <a:pPr marL="0" indent="0" algn="l">
              <a:lnSpc>
                <a:spcPts val="3500"/>
              </a:lnSpc>
              <a:buNone/>
            </a:pPr>
            <a:r>
              <a:rPr lang="en-US" sz="2800" dirty="0">
                <a:solidFill>
                  <a:srgbClr val="B8C4D6"/>
                </a:solidFill>
                <a:latin typeface="DM Sans" pitchFamily="34" charset="0"/>
                <a:ea typeface="DM Sans" pitchFamily="34" charset="-122"/>
                <a:cs typeface="DM Sans" pitchFamily="34" charset="-120"/>
              </a:rPr>
              <a:t>Photo of a list, receipt or table in. Excel, Word, PDF, CSV or TXT out. All inside WhatsApp.</a:t>
            </a:r>
            <a:endParaRPr lang="en-US" sz="2800" dirty="0"/>
          </a:p>
        </p:txBody>
      </p:sp>
      <p:sp>
        <p:nvSpPr>
          <p:cNvPr id="5" name="Text 3"/>
          <p:cNvSpPr/>
          <p:nvPr/>
        </p:nvSpPr>
        <p:spPr>
          <a:xfrm>
            <a:off x="812800" y="4910390"/>
            <a:ext cx="98107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4D6"/>
                </a:solidFill>
                <a:latin typeface="DM Sans" pitchFamily="34" charset="0"/>
                <a:ea typeface="DM Sans" pitchFamily="34" charset="-122"/>
                <a:cs typeface="DM Sans" pitchFamily="34" charset="-120"/>
              </a:rPr>
              <a:t> Python, FastAPI, Twilio, Groq Qwen vision, OpenCV, Docker, Render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600" b="1" kern="0" spc="150" dirty="0">
                <a:solidFill>
                  <a:srgbClr val="0B7A4F"/>
                </a:solidFill>
                <a:latin typeface="JetBrains Mono" pitchFamily="49" charset="0"/>
                <a:ea typeface="JetBrains Mono" pitchFamily="49" charset="-122"/>
                <a:cs typeface="JetBrains Mono" pitchFamily="49" charset="-120"/>
              </a:rPr>
              <a:t>THE PROBLEM</a:t>
            </a:r>
            <a:endParaRPr lang="en-US" sz="1600" dirty="0"/>
          </a:p>
        </p:txBody>
      </p:sp>
      <p:sp>
        <p:nvSpPr>
          <p:cNvPr id="3" name="Text 1"/>
          <p:cNvSpPr>
            <a:spLocks noGrp="1"/>
          </p:cNvSpPr>
          <p:nvPr>
            <p:ph type="title"/>
          </p:nvPr>
        </p:nvSpPr>
        <p:spPr>
          <a:xfrm>
            <a:off x="812800" y="1163320"/>
            <a:ext cx="10883392" cy="628888"/>
          </a:xfrm>
          <a:prstGeom prst="rect">
            <a:avLst/>
          </a:prstGeom>
          <a:noFill/>
          <a:ln/>
        </p:spPr>
        <p:txBody>
          <a:bodyPr wrap="square" lIns="0" tIns="0" rIns="0" bIns="0" rtlCol="0" anchor="t">
            <a:normAutofit/>
          </a:bodyPr>
          <a:lstStyle/>
          <a:p>
            <a:pPr marL="0" indent="0" algn="l">
              <a:lnSpc>
                <a:spcPts val="4752"/>
              </a:lnSpc>
              <a:buNone/>
            </a:pPr>
            <a:r>
              <a:rPr lang="en-US" sz="4400" b="1" i="0" dirty="0">
                <a:solidFill>
                  <a:srgbClr val="0E1726"/>
                </a:solidFill>
                <a:latin typeface="DM Sans" pitchFamily="34" charset="0"/>
                <a:ea typeface="DM Sans" pitchFamily="34" charset="-122"/>
                <a:cs typeface="DM Sans" pitchFamily="34" charset="-120"/>
              </a:rPr>
              <a:t>Paper data stays stuck on paper</a:t>
            </a:r>
            <a:endParaRPr lang="en-US" sz="4400" dirty="0"/>
          </a:p>
        </p:txBody>
      </p:sp>
      <p:sp>
        <p:nvSpPr>
          <p:cNvPr id="4" name="Shape 2"/>
          <p:cNvSpPr/>
          <p:nvPr/>
        </p:nvSpPr>
        <p:spPr>
          <a:xfrm>
            <a:off x="815975" y="2698750"/>
            <a:ext cx="3380264" cy="1903730"/>
          </a:xfrm>
          <a:prstGeom prst="roundRect">
            <a:avLst>
              <a:gd name="adj" fmla="val 6504"/>
            </a:avLst>
          </a:prstGeom>
          <a:solidFill>
            <a:srgbClr val="FFFFFF"/>
          </a:solidFill>
          <a:ln w="6350">
            <a:solidFill>
              <a:srgbClr val="DCE1E6"/>
            </a:solidFill>
            <a:prstDash val="solid"/>
          </a:ln>
        </p:spPr>
        <p:txBody>
          <a:bodyPr/>
          <a:lstStyle/>
          <a:p>
            <a:endParaRPr lang="en-IN"/>
          </a:p>
        </p:txBody>
      </p:sp>
      <p:sp>
        <p:nvSpPr>
          <p:cNvPr id="5" name="Text 3"/>
          <p:cNvSpPr/>
          <p:nvPr/>
        </p:nvSpPr>
        <p:spPr>
          <a:xfrm>
            <a:off x="1122680" y="3005455"/>
            <a:ext cx="28498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E1726"/>
                </a:solidFill>
                <a:latin typeface="DM Sans" pitchFamily="34" charset="0"/>
                <a:ea typeface="DM Sans" pitchFamily="34" charset="-122"/>
                <a:cs typeface="DM Sans" pitchFamily="34" charset="-120"/>
              </a:rPr>
              <a:t>Slow</a:t>
            </a:r>
            <a:endParaRPr lang="en-US" sz="2200" dirty="0"/>
          </a:p>
        </p:txBody>
      </p:sp>
      <p:sp>
        <p:nvSpPr>
          <p:cNvPr id="6" name="Text 4"/>
          <p:cNvSpPr/>
          <p:nvPr/>
        </p:nvSpPr>
        <p:spPr>
          <a:xfrm>
            <a:off x="1122680" y="3442335"/>
            <a:ext cx="2849859"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Shopping lists, bills and notes are retyped into Excel by hand.</a:t>
            </a:r>
            <a:endParaRPr lang="en-US" sz="1600" dirty="0"/>
          </a:p>
        </p:txBody>
      </p:sp>
      <p:sp>
        <p:nvSpPr>
          <p:cNvPr id="7" name="Shape 5"/>
          <p:cNvSpPr/>
          <p:nvPr/>
        </p:nvSpPr>
        <p:spPr>
          <a:xfrm>
            <a:off x="4391639" y="2696327"/>
            <a:ext cx="3380343" cy="1903730"/>
          </a:xfrm>
          <a:prstGeom prst="roundRect">
            <a:avLst>
              <a:gd name="adj" fmla="val 6504"/>
            </a:avLst>
          </a:prstGeom>
          <a:solidFill>
            <a:srgbClr val="FFFFFF"/>
          </a:solidFill>
          <a:ln w="6350">
            <a:solidFill>
              <a:srgbClr val="DCE1E6"/>
            </a:solidFill>
            <a:prstDash val="solid"/>
          </a:ln>
        </p:spPr>
        <p:txBody>
          <a:bodyPr/>
          <a:lstStyle/>
          <a:p>
            <a:endParaRPr lang="en-IN"/>
          </a:p>
        </p:txBody>
      </p:sp>
      <p:sp>
        <p:nvSpPr>
          <p:cNvPr id="8" name="Text 6"/>
          <p:cNvSpPr/>
          <p:nvPr/>
        </p:nvSpPr>
        <p:spPr>
          <a:xfrm>
            <a:off x="4698344" y="3003032"/>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E1726"/>
                </a:solidFill>
                <a:latin typeface="DM Sans" pitchFamily="34" charset="0"/>
                <a:ea typeface="DM Sans" pitchFamily="34" charset="-122"/>
                <a:cs typeface="DM Sans" pitchFamily="34" charset="-120"/>
              </a:rPr>
              <a:t>Handwriting</a:t>
            </a:r>
            <a:endParaRPr lang="en-US" sz="2200" dirty="0"/>
          </a:p>
        </p:txBody>
      </p:sp>
      <p:sp>
        <p:nvSpPr>
          <p:cNvPr id="9" name="Text 7"/>
          <p:cNvSpPr/>
          <p:nvPr/>
        </p:nvSpPr>
        <p:spPr>
          <a:xfrm>
            <a:off x="4698344" y="3439912"/>
            <a:ext cx="2849941"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Classic OCR is built for print. Cursive comes out as "Boo k".</a:t>
            </a:r>
            <a:endParaRPr lang="en-US" sz="1600" dirty="0"/>
          </a:p>
        </p:txBody>
      </p:sp>
      <p:sp>
        <p:nvSpPr>
          <p:cNvPr id="10" name="Shape 8"/>
          <p:cNvSpPr/>
          <p:nvPr/>
        </p:nvSpPr>
        <p:spPr>
          <a:xfrm>
            <a:off x="7967382" y="2696327"/>
            <a:ext cx="3380343" cy="1903730"/>
          </a:xfrm>
          <a:prstGeom prst="roundRect">
            <a:avLst>
              <a:gd name="adj" fmla="val 6504"/>
            </a:avLst>
          </a:prstGeom>
          <a:solidFill>
            <a:srgbClr val="FFFFFF"/>
          </a:solidFill>
          <a:ln w="6350">
            <a:solidFill>
              <a:srgbClr val="DCE1E6"/>
            </a:solidFill>
            <a:prstDash val="solid"/>
          </a:ln>
        </p:spPr>
        <p:txBody>
          <a:bodyPr/>
          <a:lstStyle/>
          <a:p>
            <a:endParaRPr lang="en-IN"/>
          </a:p>
        </p:txBody>
      </p:sp>
      <p:sp>
        <p:nvSpPr>
          <p:cNvPr id="11" name="Text 9"/>
          <p:cNvSpPr/>
          <p:nvPr/>
        </p:nvSpPr>
        <p:spPr>
          <a:xfrm>
            <a:off x="8274087" y="3003032"/>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E1726"/>
                </a:solidFill>
                <a:latin typeface="DM Sans" pitchFamily="34" charset="0"/>
                <a:ea typeface="DM Sans" pitchFamily="34" charset="-122"/>
                <a:cs typeface="DM Sans" pitchFamily="34" charset="-120"/>
              </a:rPr>
              <a:t>Structure</a:t>
            </a:r>
            <a:endParaRPr lang="en-US" sz="2200" dirty="0"/>
          </a:p>
        </p:txBody>
      </p:sp>
      <p:sp>
        <p:nvSpPr>
          <p:cNvPr id="12" name="Text 10"/>
          <p:cNvSpPr/>
          <p:nvPr/>
        </p:nvSpPr>
        <p:spPr>
          <a:xfrm>
            <a:off x="8274087" y="3439912"/>
            <a:ext cx="2849941"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DM Sans" pitchFamily="34" charset="0"/>
                <a:ea typeface="DM Sans" pitchFamily="34" charset="-122"/>
                <a:cs typeface="DM Sans" pitchFamily="34" charset="-120"/>
              </a:rPr>
              <a:t>Plain text loses rows and columns, so a table becomes a mess.</a:t>
            </a:r>
            <a:endParaRPr lang="en-US" sz="1600" dirty="0"/>
          </a:p>
        </p:txBody>
      </p:sp>
      <p:sp>
        <p:nvSpPr>
          <p:cNvPr id="13" name="Text 11"/>
          <p:cNvSpPr/>
          <p:nvPr/>
        </p:nvSpPr>
        <p:spPr>
          <a:xfrm>
            <a:off x="812800" y="6238241"/>
            <a:ext cx="11073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SnapDocc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600" b="1" kern="0" spc="150" dirty="0">
                <a:solidFill>
                  <a:srgbClr val="2DD4A0"/>
                </a:solidFill>
                <a:latin typeface="JetBrains Mono" pitchFamily="49" charset="0"/>
                <a:ea typeface="JetBrains Mono" pitchFamily="49" charset="-122"/>
                <a:cs typeface="JetBrains Mono" pitchFamily="49" charset="-120"/>
              </a:rPr>
              <a:t>THE SOLUTION</a:t>
            </a:r>
            <a:endParaRPr lang="en-US" sz="1600" dirty="0"/>
          </a:p>
        </p:txBody>
      </p:sp>
      <p:sp>
        <p:nvSpPr>
          <p:cNvPr id="3" name="Text 1"/>
          <p:cNvSpPr>
            <a:spLocks noGrp="1"/>
          </p:cNvSpPr>
          <p:nvPr>
            <p:ph type="title"/>
          </p:nvPr>
        </p:nvSpPr>
        <p:spPr>
          <a:xfrm>
            <a:off x="812800" y="1163320"/>
            <a:ext cx="10883392" cy="628888"/>
          </a:xfrm>
          <a:prstGeom prst="rect">
            <a:avLst/>
          </a:prstGeom>
          <a:noFill/>
          <a:ln/>
        </p:spPr>
        <p:txBody>
          <a:bodyPr wrap="square" lIns="0" tIns="0" rIns="0" bIns="0" rtlCol="0" anchor="t">
            <a:normAutofit/>
          </a:bodyPr>
          <a:lstStyle/>
          <a:p>
            <a:pPr marL="0" indent="0" algn="l">
              <a:lnSpc>
                <a:spcPts val="4752"/>
              </a:lnSpc>
              <a:buNone/>
            </a:pPr>
            <a:r>
              <a:rPr lang="en-US" sz="4400" b="1" i="0" dirty="0">
                <a:solidFill>
                  <a:srgbClr val="F6F7F4"/>
                </a:solidFill>
                <a:latin typeface="DM Sans" pitchFamily="34" charset="0"/>
                <a:ea typeface="DM Sans" pitchFamily="34" charset="-122"/>
                <a:cs typeface="DM Sans" pitchFamily="34" charset="-120"/>
              </a:rPr>
              <a:t>One photo, three steps</a:t>
            </a:r>
            <a:endParaRPr lang="en-US" sz="4400" dirty="0"/>
          </a:p>
        </p:txBody>
      </p:sp>
      <p:sp>
        <p:nvSpPr>
          <p:cNvPr id="4" name="Shape 2"/>
          <p:cNvSpPr/>
          <p:nvPr/>
        </p:nvSpPr>
        <p:spPr>
          <a:xfrm>
            <a:off x="815975" y="3223895"/>
            <a:ext cx="3380264" cy="2614930"/>
          </a:xfrm>
          <a:prstGeom prst="roundRect">
            <a:avLst>
              <a:gd name="adj" fmla="val 4735"/>
            </a:avLst>
          </a:prstGeom>
          <a:solidFill>
            <a:srgbClr val="16233A"/>
          </a:solidFill>
          <a:ln w="6350">
            <a:solidFill>
              <a:srgbClr val="2A3B57"/>
            </a:solidFill>
            <a:prstDash val="solid"/>
          </a:ln>
        </p:spPr>
        <p:txBody>
          <a:bodyPr/>
          <a:lstStyle/>
          <a:p>
            <a:endParaRPr lang="en-IN"/>
          </a:p>
        </p:txBody>
      </p:sp>
      <p:sp>
        <p:nvSpPr>
          <p:cNvPr id="5" name="Text 3"/>
          <p:cNvSpPr/>
          <p:nvPr/>
        </p:nvSpPr>
        <p:spPr>
          <a:xfrm>
            <a:off x="1122680" y="3530600"/>
            <a:ext cx="284985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DD4A0"/>
                </a:solidFill>
                <a:latin typeface="JetBrains Mono" pitchFamily="49" charset="0"/>
                <a:ea typeface="JetBrains Mono" pitchFamily="49" charset="-122"/>
                <a:cs typeface="JetBrains Mono" pitchFamily="49" charset="-120"/>
              </a:rPr>
              <a:t>1</a:t>
            </a:r>
            <a:endParaRPr lang="en-US" sz="4800" dirty="0"/>
          </a:p>
        </p:txBody>
      </p:sp>
      <p:sp>
        <p:nvSpPr>
          <p:cNvPr id="6" name="Text 4"/>
          <p:cNvSpPr/>
          <p:nvPr/>
        </p:nvSpPr>
        <p:spPr>
          <a:xfrm>
            <a:off x="1122680" y="4241800"/>
            <a:ext cx="28498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7F4"/>
                </a:solidFill>
                <a:latin typeface="DM Sans" pitchFamily="34" charset="0"/>
                <a:ea typeface="DM Sans" pitchFamily="34" charset="-122"/>
                <a:cs typeface="DM Sans" pitchFamily="34" charset="-120"/>
              </a:rPr>
              <a:t>Send a photo</a:t>
            </a:r>
            <a:endParaRPr lang="en-US" sz="2200" dirty="0"/>
          </a:p>
        </p:txBody>
      </p:sp>
      <p:sp>
        <p:nvSpPr>
          <p:cNvPr id="7" name="Text 5"/>
          <p:cNvSpPr/>
          <p:nvPr/>
        </p:nvSpPr>
        <p:spPr>
          <a:xfrm>
            <a:off x="1122680" y="4678680"/>
            <a:ext cx="284985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4D6"/>
                </a:solidFill>
                <a:latin typeface="DM Sans" pitchFamily="34" charset="0"/>
                <a:ea typeface="DM Sans" pitchFamily="34" charset="-122"/>
                <a:cs typeface="DM Sans" pitchFamily="34" charset="-120"/>
              </a:rPr>
              <a:t>On WhatsApp, from any phone. No app to install.</a:t>
            </a:r>
            <a:endParaRPr lang="en-US" sz="1600" dirty="0"/>
          </a:p>
        </p:txBody>
      </p:sp>
      <p:sp>
        <p:nvSpPr>
          <p:cNvPr id="8" name="Shape 6"/>
          <p:cNvSpPr/>
          <p:nvPr/>
        </p:nvSpPr>
        <p:spPr>
          <a:xfrm>
            <a:off x="4405789" y="3223895"/>
            <a:ext cx="3380343" cy="2614930"/>
          </a:xfrm>
          <a:prstGeom prst="roundRect">
            <a:avLst>
              <a:gd name="adj" fmla="val 4735"/>
            </a:avLst>
          </a:prstGeom>
          <a:solidFill>
            <a:srgbClr val="16233A"/>
          </a:solidFill>
          <a:ln w="6350">
            <a:solidFill>
              <a:srgbClr val="2A3B57"/>
            </a:solidFill>
            <a:prstDash val="solid"/>
          </a:ln>
        </p:spPr>
        <p:txBody>
          <a:bodyPr/>
          <a:lstStyle/>
          <a:p>
            <a:endParaRPr lang="en-IN"/>
          </a:p>
        </p:txBody>
      </p:sp>
      <p:sp>
        <p:nvSpPr>
          <p:cNvPr id="9" name="Text 7"/>
          <p:cNvSpPr/>
          <p:nvPr/>
        </p:nvSpPr>
        <p:spPr>
          <a:xfrm>
            <a:off x="4712494" y="3530600"/>
            <a:ext cx="2849941"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DD4A0"/>
                </a:solidFill>
                <a:latin typeface="JetBrains Mono" pitchFamily="49" charset="0"/>
                <a:ea typeface="JetBrains Mono" pitchFamily="49" charset="-122"/>
                <a:cs typeface="JetBrains Mono" pitchFamily="49" charset="-120"/>
              </a:rPr>
              <a:t>2</a:t>
            </a:r>
            <a:endParaRPr lang="en-US" sz="4800" dirty="0"/>
          </a:p>
        </p:txBody>
      </p:sp>
      <p:sp>
        <p:nvSpPr>
          <p:cNvPr id="10" name="Text 8"/>
          <p:cNvSpPr/>
          <p:nvPr/>
        </p:nvSpPr>
        <p:spPr>
          <a:xfrm>
            <a:off x="4712494" y="4241800"/>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7F4"/>
                </a:solidFill>
                <a:latin typeface="DM Sans" pitchFamily="34" charset="0"/>
                <a:ea typeface="DM Sans" pitchFamily="34" charset="-122"/>
                <a:cs typeface="DM Sans" pitchFamily="34" charset="-120"/>
              </a:rPr>
              <a:t>Edit first?</a:t>
            </a:r>
            <a:endParaRPr lang="en-US" sz="2200" dirty="0"/>
          </a:p>
        </p:txBody>
      </p:sp>
      <p:sp>
        <p:nvSpPr>
          <p:cNvPr id="11" name="Text 9"/>
          <p:cNvSpPr/>
          <p:nvPr/>
        </p:nvSpPr>
        <p:spPr>
          <a:xfrm>
            <a:off x="4712494" y="4678680"/>
            <a:ext cx="2849941"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4D6"/>
                </a:solidFill>
                <a:latin typeface="DM Sans" pitchFamily="34" charset="0"/>
                <a:ea typeface="DM Sans" pitchFamily="34" charset="-122"/>
                <a:cs typeface="DM Sans" pitchFamily="34" charset="-120"/>
              </a:rPr>
              <a:t>Yes: fix the text on a simple web page. No: just pick a format.</a:t>
            </a:r>
            <a:endParaRPr lang="en-US" sz="1600" dirty="0"/>
          </a:p>
        </p:txBody>
      </p:sp>
      <p:sp>
        <p:nvSpPr>
          <p:cNvPr id="12" name="Shape 10"/>
          <p:cNvSpPr/>
          <p:nvPr/>
        </p:nvSpPr>
        <p:spPr>
          <a:xfrm>
            <a:off x="7995682" y="3223895"/>
            <a:ext cx="3380343" cy="2614930"/>
          </a:xfrm>
          <a:prstGeom prst="roundRect">
            <a:avLst>
              <a:gd name="adj" fmla="val 4735"/>
            </a:avLst>
          </a:prstGeom>
          <a:solidFill>
            <a:srgbClr val="16233A"/>
          </a:solidFill>
          <a:ln w="6350">
            <a:solidFill>
              <a:srgbClr val="2A3B57"/>
            </a:solidFill>
            <a:prstDash val="solid"/>
          </a:ln>
        </p:spPr>
        <p:txBody>
          <a:bodyPr/>
          <a:lstStyle/>
          <a:p>
            <a:endParaRPr lang="en-IN"/>
          </a:p>
        </p:txBody>
      </p:sp>
      <p:sp>
        <p:nvSpPr>
          <p:cNvPr id="13" name="Text 11"/>
          <p:cNvSpPr/>
          <p:nvPr/>
        </p:nvSpPr>
        <p:spPr>
          <a:xfrm>
            <a:off x="8302387" y="3530600"/>
            <a:ext cx="2849941"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DD4A0"/>
                </a:solidFill>
                <a:latin typeface="JetBrains Mono" pitchFamily="49" charset="0"/>
                <a:ea typeface="JetBrains Mono" pitchFamily="49" charset="-122"/>
                <a:cs typeface="JetBrains Mono" pitchFamily="49" charset="-120"/>
              </a:rPr>
              <a:t>3</a:t>
            </a:r>
            <a:endParaRPr lang="en-US" sz="4800" dirty="0"/>
          </a:p>
        </p:txBody>
      </p:sp>
      <p:sp>
        <p:nvSpPr>
          <p:cNvPr id="14" name="Text 12"/>
          <p:cNvSpPr/>
          <p:nvPr/>
        </p:nvSpPr>
        <p:spPr>
          <a:xfrm>
            <a:off x="8302387" y="4241800"/>
            <a:ext cx="284994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7F4"/>
                </a:solidFill>
                <a:latin typeface="DM Sans" pitchFamily="34" charset="0"/>
                <a:ea typeface="DM Sans" pitchFamily="34" charset="-122"/>
                <a:cs typeface="DM Sans" pitchFamily="34" charset="-120"/>
              </a:rPr>
              <a:t>Get the file</a:t>
            </a:r>
            <a:endParaRPr lang="en-US" sz="2200" dirty="0"/>
          </a:p>
        </p:txBody>
      </p:sp>
      <p:sp>
        <p:nvSpPr>
          <p:cNvPr id="15" name="Text 13"/>
          <p:cNvSpPr/>
          <p:nvPr/>
        </p:nvSpPr>
        <p:spPr>
          <a:xfrm>
            <a:off x="8302387" y="4678680"/>
            <a:ext cx="2849941"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4D6"/>
                </a:solidFill>
                <a:latin typeface="DM Sans" pitchFamily="34" charset="0"/>
                <a:ea typeface="DM Sans" pitchFamily="34" charset="-122"/>
                <a:cs typeface="DM Sans" pitchFamily="34" charset="-120"/>
              </a:rPr>
              <a:t>Excel, Word, PDF, CSV or TXT arrives in the same chat.</a:t>
            </a:r>
            <a:endParaRPr lang="en-US" sz="1600" dirty="0"/>
          </a:p>
        </p:txBody>
      </p:sp>
      <p:sp>
        <p:nvSpPr>
          <p:cNvPr id="16" name="Text 14"/>
          <p:cNvSpPr/>
          <p:nvPr/>
        </p:nvSpPr>
        <p:spPr>
          <a:xfrm>
            <a:off x="812800" y="6238241"/>
            <a:ext cx="11101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6"/>
                </a:solidFill>
                <a:latin typeface="DM Sans" pitchFamily="34" charset="0"/>
                <a:ea typeface="DM Sans" pitchFamily="34" charset="-122"/>
                <a:cs typeface="DM Sans" pitchFamily="34" charset="-120"/>
              </a:rPr>
              <a:t>SnapDocc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1612900"/>
            <a:ext cx="4185920" cy="274320"/>
          </a:xfrm>
          <a:prstGeom prst="rect">
            <a:avLst/>
          </a:prstGeom>
          <a:noFill/>
          <a:ln/>
        </p:spPr>
        <p:txBody>
          <a:bodyPr wrap="square" lIns="0" tIns="0" rIns="0" bIns="0" rtlCol="0" anchor="t">
            <a:normAutofit/>
          </a:bodyPr>
          <a:lstStyle/>
          <a:p>
            <a:pPr marL="0" indent="0" algn="l">
              <a:lnSpc>
                <a:spcPts val="1960"/>
              </a:lnSpc>
              <a:buNone/>
            </a:pPr>
            <a:r>
              <a:rPr lang="en-US" sz="1600" b="1" kern="0" spc="150" dirty="0">
                <a:solidFill>
                  <a:srgbClr val="0B7A4F"/>
                </a:solidFill>
                <a:latin typeface="JetBrains Mono" pitchFamily="49" charset="0"/>
                <a:ea typeface="JetBrains Mono" pitchFamily="49" charset="-122"/>
                <a:cs typeface="JetBrains Mono" pitchFamily="49" charset="-120"/>
              </a:rPr>
              <a:t>ARCHITECTURE</a:t>
            </a:r>
            <a:endParaRPr lang="en-US" dirty="0"/>
          </a:p>
        </p:txBody>
      </p:sp>
      <p:sp>
        <p:nvSpPr>
          <p:cNvPr id="3" name="Text 1"/>
          <p:cNvSpPr>
            <a:spLocks noGrp="1"/>
          </p:cNvSpPr>
          <p:nvPr>
            <p:ph type="title"/>
          </p:nvPr>
        </p:nvSpPr>
        <p:spPr>
          <a:xfrm>
            <a:off x="812800" y="2065020"/>
            <a:ext cx="418592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726"/>
                </a:solidFill>
                <a:latin typeface="DM Sans" pitchFamily="34" charset="0"/>
                <a:ea typeface="DM Sans" pitchFamily="34" charset="-122"/>
                <a:cs typeface="DM Sans" pitchFamily="34" charset="-120"/>
              </a:rPr>
              <a:t>How it fits together</a:t>
            </a:r>
            <a:endParaRPr lang="en-US" sz="3600" dirty="0"/>
          </a:p>
        </p:txBody>
      </p:sp>
      <p:sp>
        <p:nvSpPr>
          <p:cNvPr id="4" name="Text 2"/>
          <p:cNvSpPr/>
          <p:nvPr/>
        </p:nvSpPr>
        <p:spPr>
          <a:xfrm>
            <a:off x="876808" y="3274061"/>
            <a:ext cx="4114292" cy="1793240"/>
          </a:xfrm>
          <a:prstGeom prst="rect">
            <a:avLst/>
          </a:prstGeom>
          <a:noFill/>
          <a:ln/>
        </p:spPr>
        <p:txBody>
          <a:bodyPr wrap="square" lIns="0" tIns="0" rIns="0" bIns="0" rtlCol="0" anchor="t">
            <a:normAutofit/>
          </a:bodyPr>
          <a:lstStyle/>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Twilio passes each WhatsApp message to my FastAPI webhook.</a:t>
            </a:r>
            <a:endParaRPr lang="en-US" sz="1600" dirty="0"/>
          </a:p>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A reader turns the photo into a table with a confidence score per cell.</a:t>
            </a:r>
            <a:endParaRPr lang="en-US" sz="1600" dirty="0"/>
          </a:p>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Generators build the file, and Twilio delivers it back to the chat.</a:t>
            </a:r>
            <a:endParaRPr lang="en-US" sz="1600" dirty="0"/>
          </a:p>
        </p:txBody>
      </p:sp>
      <p:sp>
        <p:nvSpPr>
          <p:cNvPr id="5" name="Shape 3"/>
          <p:cNvSpPr/>
          <p:nvPr/>
        </p:nvSpPr>
        <p:spPr>
          <a:xfrm>
            <a:off x="5283200" y="711200"/>
            <a:ext cx="6096000" cy="5232400"/>
          </a:xfrm>
          <a:prstGeom prst="roundRect">
            <a:avLst>
              <a:gd name="adj" fmla="val 2427"/>
            </a:avLst>
          </a:prstGeom>
          <a:solidFill>
            <a:srgbClr val="FFFFFF"/>
          </a:solidFill>
          <a:ln/>
        </p:spPr>
        <p:txBody>
          <a:bodyPr/>
          <a:lstStyle/>
          <a:p>
            <a:endParaRPr lang="en-IN"/>
          </a:p>
        </p:txBody>
      </p:sp>
      <p:pic>
        <p:nvPicPr>
          <p:cNvPr id="6" name="Image 0" descr="Architecture diagram: user, Twilio, FastAPI webhook, session state, reader with Groq Qwen and Tesseract fallback, grid, edit page, file generators and file delivery"/>
          <p:cNvPicPr>
            <a:picLocks noChangeAspect="1"/>
          </p:cNvPicPr>
          <p:nvPr/>
        </p:nvPicPr>
        <p:blipFill>
          <a:blip r:embed="rId3"/>
          <a:srcRect l="-229" r="-229"/>
          <a:stretch/>
        </p:blipFill>
        <p:spPr>
          <a:xfrm>
            <a:off x="5275580" y="717550"/>
            <a:ext cx="6097270" cy="5219700"/>
          </a:xfrm>
          <a:prstGeom prst="roundRect">
            <a:avLst>
              <a:gd name="adj" fmla="val 2311"/>
            </a:avLst>
          </a:prstGeom>
        </p:spPr>
      </p:pic>
      <p:sp>
        <p:nvSpPr>
          <p:cNvPr id="7" name="Shape 4"/>
          <p:cNvSpPr/>
          <p:nvPr/>
        </p:nvSpPr>
        <p:spPr>
          <a:xfrm>
            <a:off x="5286375" y="714375"/>
            <a:ext cx="6089650" cy="5226050"/>
          </a:xfrm>
          <a:prstGeom prst="roundRect">
            <a:avLst>
              <a:gd name="adj" fmla="val 2369"/>
            </a:avLst>
          </a:prstGeom>
          <a:noFill/>
          <a:ln w="6350">
            <a:solidFill>
              <a:srgbClr val="DCE1E6"/>
            </a:solidFill>
            <a:prstDash val="solid"/>
          </a:ln>
        </p:spPr>
        <p:txBody>
          <a:bodyPr/>
          <a:lstStyle/>
          <a:p>
            <a:endParaRPr lang="en-IN"/>
          </a:p>
        </p:txBody>
      </p:sp>
      <p:sp>
        <p:nvSpPr>
          <p:cNvPr id="8" name="Text 5"/>
          <p:cNvSpPr/>
          <p:nvPr/>
        </p:nvSpPr>
        <p:spPr>
          <a:xfrm>
            <a:off x="812800" y="6238239"/>
            <a:ext cx="111309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SnapDocc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600" b="1" kern="0" spc="150" dirty="0">
                <a:solidFill>
                  <a:srgbClr val="0B7A4F"/>
                </a:solidFill>
                <a:latin typeface="JetBrains Mono" pitchFamily="49" charset="0"/>
                <a:ea typeface="JetBrains Mono" pitchFamily="49" charset="-122"/>
                <a:cs typeface="JetBrains Mono" pitchFamily="49" charset="-120"/>
              </a:rPr>
              <a:t>MODULES</a:t>
            </a:r>
            <a:endParaRPr lang="en-US" sz="1400" dirty="0"/>
          </a:p>
        </p:txBody>
      </p:sp>
      <p:sp>
        <p:nvSpPr>
          <p:cNvPr id="3" name="Text 1"/>
          <p:cNvSpPr>
            <a:spLocks noGrp="1"/>
          </p:cNvSpPr>
          <p:nvPr>
            <p:ph type="title"/>
          </p:nvPr>
        </p:nvSpPr>
        <p:spPr>
          <a:xfrm>
            <a:off x="812800" y="1163321"/>
            <a:ext cx="10883392" cy="574040"/>
          </a:xfrm>
          <a:prstGeom prst="rect">
            <a:avLst/>
          </a:prstGeom>
          <a:noFill/>
          <a:ln/>
        </p:spPr>
        <p:txBody>
          <a:bodyPr wrap="square" lIns="0" tIns="0" rIns="0" bIns="0" rtlCol="0" anchor="t">
            <a:normAutofit/>
          </a:bodyPr>
          <a:lstStyle/>
          <a:p>
            <a:pPr marL="0" indent="0" algn="l">
              <a:lnSpc>
                <a:spcPts val="4320"/>
              </a:lnSpc>
              <a:buNone/>
            </a:pPr>
            <a:r>
              <a:rPr lang="en-US" sz="4000" b="1" i="0" dirty="0">
                <a:solidFill>
                  <a:srgbClr val="0E1726"/>
                </a:solidFill>
                <a:latin typeface="DM Sans" pitchFamily="34" charset="0"/>
                <a:ea typeface="DM Sans" pitchFamily="34" charset="-122"/>
                <a:cs typeface="DM Sans" pitchFamily="34" charset="-120"/>
              </a:rPr>
              <a:t>Six small parts, one job each</a:t>
            </a:r>
            <a:endParaRPr lang="en-US" sz="4000" dirty="0"/>
          </a:p>
        </p:txBody>
      </p:sp>
      <p:graphicFrame>
        <p:nvGraphicFramePr>
          <p:cNvPr id="4" name="Table 0"/>
          <p:cNvGraphicFramePr>
            <a:graphicFrameLocks noGrp="1"/>
          </p:cNvGraphicFramePr>
          <p:nvPr>
            <p:extLst>
              <p:ext uri="{D42A27DB-BD31-4B8C-83A1-F6EECF244321}">
                <p14:modId xmlns:p14="http://schemas.microsoft.com/office/powerpoint/2010/main" val="261087277"/>
              </p:ext>
            </p:extLst>
          </p:nvPr>
        </p:nvGraphicFramePr>
        <p:xfrm>
          <a:off x="822960" y="2183362"/>
          <a:ext cx="9263432" cy="3732246"/>
        </p:xfrm>
        <a:graphic>
          <a:graphicData uri="http://schemas.openxmlformats.org/drawingml/2006/table">
            <a:tbl>
              <a:tblPr/>
              <a:tblGrid>
                <a:gridCol w="3149567">
                  <a:extLst>
                    <a:ext uri="{9D8B030D-6E8A-4147-A177-3AD203B41FA5}">
                      <a16:colId xmlns:a16="http://schemas.microsoft.com/office/drawing/2014/main" val="20000"/>
                    </a:ext>
                  </a:extLst>
                </a:gridCol>
                <a:gridCol w="6113865">
                  <a:extLst>
                    <a:ext uri="{9D8B030D-6E8A-4147-A177-3AD203B41FA5}">
                      <a16:colId xmlns:a16="http://schemas.microsoft.com/office/drawing/2014/main" val="20001"/>
                    </a:ext>
                  </a:extLst>
                </a:gridCol>
              </a:tblGrid>
              <a:tr h="622041">
                <a:tc>
                  <a:txBody>
                    <a:bodyPr/>
                    <a:lstStyle/>
                    <a:p>
                      <a:pPr marL="0" indent="0">
                        <a:lnSpc>
                          <a:spcPts val="2100"/>
                        </a:lnSpc>
                        <a:buNone/>
                      </a:pPr>
                      <a:r>
                        <a:rPr lang="en-US" sz="1500" b="1" dirty="0">
                          <a:solidFill>
                            <a:srgbClr val="F6F7F4"/>
                          </a:solidFill>
                          <a:latin typeface="DM Sans" pitchFamily="34" charset="0"/>
                          <a:ea typeface="DM Sans" pitchFamily="34" charset="-122"/>
                          <a:cs typeface="DM Sans" pitchFamily="34" charset="-120"/>
                        </a:rPr>
                        <a:t>Module</a:t>
                      </a:r>
                      <a:endParaRPr lang="en-US" sz="1500" dirty="0">
                        <a:latin typeface="DM Sans" charset="0"/>
                        <a:ea typeface="DM Sans" charset="0"/>
                        <a:cs typeface="DM Sans" charset="0"/>
                      </a:endParaRPr>
                    </a:p>
                  </a:txBody>
                  <a:tcPr marL="66675" marR="66675" marT="66675" marB="66675">
                    <a:lnL w="12700" cap="flat" cmpd="sng" algn="ctr">
                      <a:solidFill>
                        <a:srgbClr val="C4C5C3"/>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tc>
                  <a:txBody>
                    <a:bodyPr/>
                    <a:lstStyle/>
                    <a:p>
                      <a:pPr marL="0" indent="0">
                        <a:lnSpc>
                          <a:spcPts val="2100"/>
                        </a:lnSpc>
                        <a:buNone/>
                      </a:pPr>
                      <a:r>
                        <a:rPr lang="en-US" sz="1500" b="1" dirty="0">
                          <a:solidFill>
                            <a:srgbClr val="F6F7F4"/>
                          </a:solidFill>
                          <a:latin typeface="DM Sans" pitchFamily="34" charset="0"/>
                          <a:ea typeface="DM Sans" pitchFamily="34" charset="-122"/>
                          <a:cs typeface="DM Sans" pitchFamily="34" charset="-120"/>
                        </a:rPr>
                        <a:t>What it does</a:t>
                      </a:r>
                      <a:endParaRPr lang="en-US" sz="1500" dirty="0">
                        <a:latin typeface="DM Sans" charset="0"/>
                        <a:ea typeface="DM Sans" charset="0"/>
                        <a:cs typeface="DM Sans" charset="0"/>
                      </a:endParaRPr>
                    </a:p>
                  </a:txBody>
                  <a:tcPr marL="66675" marR="66675" marT="66675" marB="66675">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extLst>
                  <a:ext uri="{0D108BD9-81ED-4DB2-BD59-A6C34878D82A}">
                    <a16:rowId xmlns:a16="http://schemas.microsoft.com/office/drawing/2014/main" val="10000"/>
                  </a:ext>
                </a:extLst>
              </a:tr>
              <a:tr h="622041">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ocr/</a:t>
                      </a:r>
                      <a:endParaRPr lang="en-US" sz="1500" dirty="0">
                        <a:latin typeface="DM Sans" charset="0"/>
                        <a:ea typeface="DM Sans" charset="0"/>
                        <a:cs typeface="DM Sans" charset="0"/>
                      </a:endParaRPr>
                    </a:p>
                  </a:txBody>
                  <a:tcPr marL="66675" marR="66675" marT="66675" marB="66675">
                    <a:lnL w="12700" cap="flat" cmpd="sng" algn="ctr">
                      <a:solidFill>
                        <a:srgbClr val="C4C5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Reads the photo: Qwen vision, Tesseract backup</a:t>
                      </a:r>
                      <a:endParaRPr lang="en-US" sz="1500" dirty="0">
                        <a:latin typeface="DM Sans" charset="0"/>
                        <a:ea typeface="DM Sans" charset="0"/>
                        <a:cs typeface="DM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2041">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structuring/</a:t>
                      </a:r>
                      <a:endParaRPr lang="en-US" sz="1500" dirty="0">
                        <a:latin typeface="DM Sans" charset="0"/>
                        <a:ea typeface="DM Sans" charset="0"/>
                        <a:cs typeface="DM Sans" charset="0"/>
                      </a:endParaRPr>
                    </a:p>
                  </a:txBody>
                  <a:tcPr marL="66675" marR="66675" marT="66675" marB="66675">
                    <a:lnL w="12700" cap="flat" cmpd="sng" algn="ctr">
                      <a:solidFill>
                        <a:srgbClr val="C4C5C3"/>
                      </a:solidFill>
                      <a:prstDash val="solid"/>
                      <a:round/>
                      <a:headEnd type="none" w="med" len="med"/>
                      <a:tailEnd type="none" w="med" len="med"/>
                    </a:lnL>
                    <a:lnR w="12700" cap="flat" cmpd="sng" algn="ctr">
                      <a:solidFill>
                        <a:srgbClr val="BBBE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EBC"/>
                      </a:solidFill>
                      <a:prstDash val="solid"/>
                      <a:round/>
                      <a:headEnd type="none" w="med" len="med"/>
                      <a:tailEnd type="none" w="med" len="med"/>
                    </a:lnB>
                    <a:solidFill>
                      <a:srgbClr val="EAEEEC"/>
                    </a:solidFill>
                  </a:tcPr>
                </a:tc>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Detects list or table, splits quantity / unit / item</a:t>
                      </a:r>
                      <a:endParaRPr lang="en-US" sz="1500" dirty="0">
                        <a:latin typeface="DM Sans" charset="0"/>
                        <a:ea typeface="DM Sans" charset="0"/>
                        <a:cs typeface="DM Sans" charset="0"/>
                      </a:endParaRPr>
                    </a:p>
                  </a:txBody>
                  <a:tcPr marL="66675" marR="66675" marT="66675" marB="66675">
                    <a:lnL w="12700" cap="flat" cmpd="sng" algn="ctr">
                      <a:solidFill>
                        <a:srgbClr val="BBBEBC"/>
                      </a:solidFill>
                      <a:prstDash val="solid"/>
                      <a:round/>
                      <a:headEnd type="none" w="med" len="med"/>
                      <a:tailEnd type="none" w="med" len="med"/>
                    </a:lnL>
                    <a:lnR w="12700" cap="flat" cmpd="sng" algn="ctr">
                      <a:solidFill>
                        <a:srgbClr val="BBBE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EBC"/>
                      </a:solidFill>
                      <a:prstDash val="solid"/>
                      <a:round/>
                      <a:headEnd type="none" w="med" len="med"/>
                      <a:tailEnd type="none" w="med" len="med"/>
                    </a:lnB>
                    <a:solidFill>
                      <a:srgbClr val="EAEEEC"/>
                    </a:solidFill>
                  </a:tcPr>
                </a:tc>
                <a:extLst>
                  <a:ext uri="{0D108BD9-81ED-4DB2-BD59-A6C34878D82A}">
                    <a16:rowId xmlns:a16="http://schemas.microsoft.com/office/drawing/2014/main" val="10002"/>
                  </a:ext>
                </a:extLst>
              </a:tr>
              <a:tr h="622041">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webhook + session</a:t>
                      </a:r>
                      <a:endParaRPr lang="en-US" sz="1500" dirty="0">
                        <a:latin typeface="DM Sans" charset="0"/>
                        <a:ea typeface="DM Sans" charset="0"/>
                        <a:cs typeface="DM Sans" charset="0"/>
                      </a:endParaRPr>
                    </a:p>
                  </a:txBody>
                  <a:tcPr marL="66675" marR="66675" marT="66675" marB="66675">
                    <a:lnL w="12700" cap="flat" cmpd="sng" algn="ctr">
                      <a:solidFill>
                        <a:srgbClr val="C4C5C3"/>
                      </a:solidFill>
                      <a:prstDash val="solid"/>
                      <a:round/>
                      <a:headEnd type="none" w="med" len="med"/>
                      <a:tailEnd type="none" w="med" len="med"/>
                    </a:lnL>
                    <a:lnR w="12700" cap="flat" cmpd="sng" algn="ctr">
                      <a:solidFill>
                        <a:srgbClr val="BBBEBC"/>
                      </a:solidFill>
                      <a:prstDash val="solid"/>
                      <a:round/>
                      <a:headEnd type="none" w="med" len="med"/>
                      <a:tailEnd type="none" w="med" len="med"/>
                    </a:lnR>
                    <a:lnT w="12700" cap="flat" cmpd="sng" algn="ctr">
                      <a:solidFill>
                        <a:srgbClr val="BBBEBC"/>
                      </a:solidFill>
                      <a:prstDash val="solid"/>
                      <a:round/>
                      <a:headEnd type="none" w="med" len="med"/>
                      <a:tailEnd type="none" w="med" len="med"/>
                    </a:lnT>
                    <a:lnB w="12700" cap="flat" cmpd="sng" algn="ctr">
                      <a:solidFill>
                        <a:srgbClr val="BBBEBC"/>
                      </a:solidFill>
                      <a:prstDash val="solid"/>
                      <a:round/>
                      <a:headEnd type="none" w="med" len="med"/>
                      <a:tailEnd type="none" w="med" len="med"/>
                    </a:lnB>
                    <a:solidFill>
                      <a:srgbClr val="EAEEEC"/>
                    </a:solidFill>
                  </a:tcPr>
                </a:tc>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Chat flow and session state with expiry</a:t>
                      </a:r>
                      <a:endParaRPr lang="en-US" sz="1500" dirty="0">
                        <a:latin typeface="DM Sans" charset="0"/>
                        <a:ea typeface="DM Sans" charset="0"/>
                        <a:cs typeface="DM Sans" charset="0"/>
                      </a:endParaRPr>
                    </a:p>
                  </a:txBody>
                  <a:tcPr marL="66675" marR="66675" marT="66675" marB="66675">
                    <a:lnL w="12700" cap="flat" cmpd="sng" algn="ctr">
                      <a:solidFill>
                        <a:srgbClr val="BBBEBC"/>
                      </a:solidFill>
                      <a:prstDash val="solid"/>
                      <a:round/>
                      <a:headEnd type="none" w="med" len="med"/>
                      <a:tailEnd type="none" w="med" len="med"/>
                    </a:lnL>
                    <a:lnR w="12700" cap="flat" cmpd="sng" algn="ctr">
                      <a:solidFill>
                        <a:srgbClr val="BBBEBC"/>
                      </a:solidFill>
                      <a:prstDash val="solid"/>
                      <a:round/>
                      <a:headEnd type="none" w="med" len="med"/>
                      <a:tailEnd type="none" w="med" len="med"/>
                    </a:lnR>
                    <a:lnT w="12700" cap="flat" cmpd="sng" algn="ctr">
                      <a:solidFill>
                        <a:srgbClr val="BBBEBC"/>
                      </a:solidFill>
                      <a:prstDash val="solid"/>
                      <a:round/>
                      <a:headEnd type="none" w="med" len="med"/>
                      <a:tailEnd type="none" w="med" len="med"/>
                    </a:lnT>
                    <a:lnB w="12700" cap="flat" cmpd="sng" algn="ctr">
                      <a:solidFill>
                        <a:srgbClr val="BBBEBC"/>
                      </a:solidFill>
                      <a:prstDash val="solid"/>
                      <a:round/>
                      <a:headEnd type="none" w="med" len="med"/>
                      <a:tailEnd type="none" w="med" len="med"/>
                    </a:lnB>
                    <a:solidFill>
                      <a:srgbClr val="EAEEEC"/>
                    </a:solidFill>
                  </a:tcPr>
                </a:tc>
                <a:extLst>
                  <a:ext uri="{0D108BD9-81ED-4DB2-BD59-A6C34878D82A}">
                    <a16:rowId xmlns:a16="http://schemas.microsoft.com/office/drawing/2014/main" val="10004"/>
                  </a:ext>
                </a:extLst>
              </a:tr>
              <a:tr h="622041">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web.py</a:t>
                      </a:r>
                      <a:endParaRPr lang="en-US" sz="1500" dirty="0">
                        <a:latin typeface="DM Sans" charset="0"/>
                        <a:ea typeface="DM Sans" charset="0"/>
                        <a:cs typeface="DM Sans" charset="0"/>
                      </a:endParaRPr>
                    </a:p>
                  </a:txBody>
                  <a:tcPr marL="66675" marR="66675" marT="66675" marB="66675">
                    <a:lnL w="12700" cap="flat" cmpd="sng" algn="ctr">
                      <a:solidFill>
                        <a:srgbClr val="C4C5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BE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Edit page with spelling and grammar auto-correct</a:t>
                      </a:r>
                      <a:endParaRPr lang="en-US" sz="1500" dirty="0">
                        <a:latin typeface="DM Sans" charset="0"/>
                        <a:ea typeface="DM Sans" charset="0"/>
                        <a:cs typeface="DM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BE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2041">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db + housekeeping</a:t>
                      </a:r>
                      <a:endParaRPr lang="en-US" sz="1500" dirty="0">
                        <a:latin typeface="DM Sans" charset="0"/>
                        <a:ea typeface="DM Sans" charset="0"/>
                        <a:cs typeface="DM Sans" charset="0"/>
                      </a:endParaRPr>
                    </a:p>
                  </a:txBody>
                  <a:tcPr marL="66675" marR="66675" marT="66675" marB="66675">
                    <a:lnL w="12700" cap="flat" cmpd="sng" algn="ctr">
                      <a:solidFill>
                        <a:srgbClr val="C4C5C3"/>
                      </a:solidFill>
                      <a:prstDash val="solid"/>
                      <a:round/>
                      <a:headEnd type="none" w="med" len="med"/>
                      <a:tailEnd type="none" w="med" len="med"/>
                    </a:lnL>
                    <a:lnR w="12700" cap="flat" cmpd="sng" algn="ctr">
                      <a:solidFill>
                        <a:srgbClr val="BBBE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EBC"/>
                      </a:solidFill>
                      <a:prstDash val="solid"/>
                      <a:round/>
                      <a:headEnd type="none" w="med" len="med"/>
                      <a:tailEnd type="none" w="med" len="med"/>
                    </a:lnB>
                    <a:solidFill>
                      <a:srgbClr val="EAEEEC"/>
                    </a:solidFill>
                  </a:tcPr>
                </a:tc>
                <a:tc>
                  <a:txBody>
                    <a:bodyPr/>
                    <a:lstStyle/>
                    <a:p>
                      <a:pPr marL="0" indent="0">
                        <a:lnSpc>
                          <a:spcPts val="2100"/>
                        </a:lnSpc>
                        <a:buNone/>
                      </a:pPr>
                      <a:r>
                        <a:rPr lang="en-US" sz="1500" dirty="0">
                          <a:solidFill>
                            <a:srgbClr val="0E1726"/>
                          </a:solidFill>
                          <a:latin typeface="DM Sans" pitchFamily="34" charset="0"/>
                          <a:ea typeface="DM Sans" pitchFamily="34" charset="-122"/>
                          <a:cs typeface="DM Sans" pitchFamily="34" charset="-120"/>
                        </a:rPr>
                        <a:t>Request logs and cleanup of old photos and links</a:t>
                      </a:r>
                      <a:endParaRPr lang="en-US" sz="1500" dirty="0">
                        <a:latin typeface="DM Sans" charset="0"/>
                        <a:ea typeface="DM Sans" charset="0"/>
                        <a:cs typeface="DM Sans" charset="0"/>
                      </a:endParaRPr>
                    </a:p>
                  </a:txBody>
                  <a:tcPr marL="66675" marR="66675" marT="66675" marB="66675">
                    <a:lnL w="12700" cap="flat" cmpd="sng" algn="ctr">
                      <a:solidFill>
                        <a:srgbClr val="BBBEBC"/>
                      </a:solidFill>
                      <a:prstDash val="solid"/>
                      <a:round/>
                      <a:headEnd type="none" w="med" len="med"/>
                      <a:tailEnd type="none" w="med" len="med"/>
                    </a:lnL>
                    <a:lnR w="12700" cap="flat" cmpd="sng" algn="ctr">
                      <a:solidFill>
                        <a:srgbClr val="BBBE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EBC"/>
                      </a:solidFill>
                      <a:prstDash val="solid"/>
                      <a:round/>
                      <a:headEnd type="none" w="med" len="med"/>
                      <a:tailEnd type="none" w="med" len="med"/>
                    </a:lnB>
                    <a:solidFill>
                      <a:srgbClr val="EAEEEC"/>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39"/>
            <a:ext cx="11135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SnapDocc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600" b="1" kern="0" spc="150" dirty="0">
                <a:solidFill>
                  <a:srgbClr val="2DD4A0"/>
                </a:solidFill>
                <a:latin typeface="JetBrains Mono" pitchFamily="49" charset="0"/>
                <a:ea typeface="JetBrains Mono" pitchFamily="49" charset="-122"/>
                <a:cs typeface="JetBrains Mono" pitchFamily="49" charset="-120"/>
              </a:rPr>
              <a:t>THE READER</a:t>
            </a:r>
            <a:endParaRPr lang="en-US" sz="1600" dirty="0"/>
          </a:p>
        </p:txBody>
      </p:sp>
      <p:sp>
        <p:nvSpPr>
          <p:cNvPr id="3" name="Text 1"/>
          <p:cNvSpPr>
            <a:spLocks noGrp="1"/>
          </p:cNvSpPr>
          <p:nvPr>
            <p:ph type="title"/>
          </p:nvPr>
        </p:nvSpPr>
        <p:spPr>
          <a:xfrm>
            <a:off x="812800" y="1163321"/>
            <a:ext cx="10883392" cy="574040"/>
          </a:xfrm>
          <a:prstGeom prst="rect">
            <a:avLst/>
          </a:prstGeom>
          <a:noFill/>
          <a:ln/>
        </p:spPr>
        <p:txBody>
          <a:bodyPr wrap="square" lIns="0" tIns="0" rIns="0" bIns="0" rtlCol="0" anchor="t">
            <a:normAutofit/>
          </a:bodyPr>
          <a:lstStyle/>
          <a:p>
            <a:pPr marL="0" indent="0" algn="l">
              <a:lnSpc>
                <a:spcPts val="4320"/>
              </a:lnSpc>
              <a:buNone/>
            </a:pPr>
            <a:r>
              <a:rPr lang="en-US" sz="4000" b="1" i="0" dirty="0">
                <a:solidFill>
                  <a:srgbClr val="F6F7F4"/>
                </a:solidFill>
                <a:latin typeface="DM Sans" pitchFamily="34" charset="0"/>
                <a:ea typeface="DM Sans" pitchFamily="34" charset="-122"/>
                <a:cs typeface="DM Sans" pitchFamily="34" charset="-120"/>
              </a:rPr>
              <a:t>Qwen first, Tesseract as backup</a:t>
            </a:r>
            <a:endParaRPr lang="en-US" sz="4000" dirty="0"/>
          </a:p>
        </p:txBody>
      </p:sp>
      <p:sp>
        <p:nvSpPr>
          <p:cNvPr id="4" name="Shape 2"/>
          <p:cNvSpPr/>
          <p:nvPr/>
        </p:nvSpPr>
        <p:spPr>
          <a:xfrm>
            <a:off x="815975" y="2530475"/>
            <a:ext cx="5175250" cy="1903730"/>
          </a:xfrm>
          <a:prstGeom prst="roundRect">
            <a:avLst>
              <a:gd name="adj" fmla="val 6504"/>
            </a:avLst>
          </a:prstGeom>
          <a:solidFill>
            <a:srgbClr val="16233A"/>
          </a:solidFill>
          <a:ln w="6350">
            <a:solidFill>
              <a:srgbClr val="2DD4A0"/>
            </a:solidFill>
            <a:prstDash val="solid"/>
          </a:ln>
        </p:spPr>
        <p:txBody>
          <a:bodyPr/>
          <a:lstStyle/>
          <a:p>
            <a:endParaRPr lang="en-IN"/>
          </a:p>
        </p:txBody>
      </p:sp>
      <p:sp>
        <p:nvSpPr>
          <p:cNvPr id="5" name="Text 3"/>
          <p:cNvSpPr/>
          <p:nvPr/>
        </p:nvSpPr>
        <p:spPr>
          <a:xfrm>
            <a:off x="1122680" y="2837182"/>
            <a:ext cx="4698695"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DD4A0"/>
                </a:solidFill>
                <a:latin typeface="DM Sans" pitchFamily="34" charset="0"/>
                <a:ea typeface="DM Sans" pitchFamily="34" charset="-122"/>
                <a:cs typeface="DM Sans" pitchFamily="34" charset="-120"/>
              </a:rPr>
              <a:t>Groq + Qwen vision</a:t>
            </a:r>
            <a:endParaRPr lang="en-US" sz="2200" dirty="0"/>
          </a:p>
        </p:txBody>
      </p:sp>
      <p:sp>
        <p:nvSpPr>
          <p:cNvPr id="6" name="Text 4"/>
          <p:cNvSpPr/>
          <p:nvPr/>
        </p:nvSpPr>
        <p:spPr>
          <a:xfrm>
            <a:off x="1122680" y="3274061"/>
            <a:ext cx="4698695"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4D6"/>
                </a:solidFill>
                <a:latin typeface="DM Sans" pitchFamily="34" charset="0"/>
                <a:ea typeface="DM Sans" pitchFamily="34" charset="-122"/>
                <a:cs typeface="DM Sans" pitchFamily="34" charset="-120"/>
              </a:rPr>
              <a:t>Reads the way a person does, using context for messy handwriting. Returns the table directly, plus the cells it is unsure about.</a:t>
            </a:r>
            <a:endParaRPr lang="en-US" sz="1600" dirty="0"/>
          </a:p>
        </p:txBody>
      </p:sp>
      <p:sp>
        <p:nvSpPr>
          <p:cNvPr id="7" name="Shape 5"/>
          <p:cNvSpPr/>
          <p:nvPr/>
        </p:nvSpPr>
        <p:spPr>
          <a:xfrm>
            <a:off x="6200775" y="2530475"/>
            <a:ext cx="5175250" cy="1903730"/>
          </a:xfrm>
          <a:prstGeom prst="roundRect">
            <a:avLst>
              <a:gd name="adj" fmla="val 6504"/>
            </a:avLst>
          </a:prstGeom>
          <a:solidFill>
            <a:srgbClr val="16233A"/>
          </a:solidFill>
          <a:ln w="6350">
            <a:solidFill>
              <a:srgbClr val="2A3B57"/>
            </a:solidFill>
            <a:prstDash val="solid"/>
          </a:ln>
        </p:spPr>
        <p:txBody>
          <a:bodyPr/>
          <a:lstStyle/>
          <a:p>
            <a:endParaRPr lang="en-IN"/>
          </a:p>
        </p:txBody>
      </p:sp>
      <p:sp>
        <p:nvSpPr>
          <p:cNvPr id="8" name="Text 6"/>
          <p:cNvSpPr/>
          <p:nvPr/>
        </p:nvSpPr>
        <p:spPr>
          <a:xfrm>
            <a:off x="6507480" y="2837182"/>
            <a:ext cx="4698695"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7F4"/>
                </a:solidFill>
                <a:latin typeface="DM Sans" pitchFamily="34" charset="0"/>
                <a:ea typeface="DM Sans" pitchFamily="34" charset="-122"/>
                <a:cs typeface="DM Sans" pitchFamily="34" charset="-120"/>
              </a:rPr>
              <a:t>OpenCV + Tesseract</a:t>
            </a:r>
            <a:endParaRPr lang="en-US" sz="2200" dirty="0"/>
          </a:p>
        </p:txBody>
      </p:sp>
      <p:sp>
        <p:nvSpPr>
          <p:cNvPr id="9" name="Text 7"/>
          <p:cNvSpPr/>
          <p:nvPr/>
        </p:nvSpPr>
        <p:spPr>
          <a:xfrm>
            <a:off x="6507480" y="3274061"/>
            <a:ext cx="4698695"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4D6"/>
                </a:solidFill>
                <a:latin typeface="DM Sans" pitchFamily="34" charset="0"/>
                <a:ea typeface="DM Sans" pitchFamily="34" charset="-122"/>
                <a:cs typeface="DM Sans" pitchFamily="34" charset="-120"/>
              </a:rPr>
              <a:t>Automatic fallback if the AI call fails. Cleans the image, reads words with boxes and confidence, then groups them into rows.</a:t>
            </a:r>
            <a:endParaRPr lang="en-US" sz="1600" dirty="0"/>
          </a:p>
        </p:txBody>
      </p:sp>
      <p:sp>
        <p:nvSpPr>
          <p:cNvPr id="10" name="Text 8"/>
          <p:cNvSpPr/>
          <p:nvPr/>
        </p:nvSpPr>
        <p:spPr>
          <a:xfrm>
            <a:off x="812800" y="5252721"/>
            <a:ext cx="10566400" cy="589280"/>
          </a:xfrm>
          <a:prstGeom prst="roundRect">
            <a:avLst>
              <a:gd name="adj" fmla="val 17241"/>
            </a:avLst>
          </a:prstGeom>
          <a:solidFill>
            <a:srgbClr val="F5B301"/>
          </a:solidFill>
          <a:ln/>
        </p:spPr>
        <p:txBody>
          <a:bodyPr wrap="square" lIns="224242" tIns="122642" rIns="0" bIns="97242" rtlCol="0" anchor="t">
            <a:normAutofit/>
          </a:bodyPr>
          <a:lstStyle/>
          <a:p>
            <a:pPr marL="0" indent="0" algn="l">
              <a:lnSpc>
                <a:spcPts val="2240"/>
              </a:lnSpc>
              <a:buNone/>
            </a:pPr>
            <a:r>
              <a:rPr lang="en-US" sz="1600" dirty="0">
                <a:solidFill>
                  <a:srgbClr val="0E1726"/>
                </a:solidFill>
                <a:latin typeface="DM Sans" pitchFamily="34" charset="0"/>
                <a:ea typeface="DM Sans" pitchFamily="34" charset="-122"/>
                <a:cs typeface="DM Sans" pitchFamily="34" charset="-120"/>
              </a:rPr>
              <a:t>Unsure cells are highlighted yellow, so you know what to double-check.</a:t>
            </a:r>
            <a:endParaRPr lang="en-US" sz="1600" dirty="0"/>
          </a:p>
        </p:txBody>
      </p:sp>
      <p:sp>
        <p:nvSpPr>
          <p:cNvPr id="11" name="Text 9"/>
          <p:cNvSpPr/>
          <p:nvPr/>
        </p:nvSpPr>
        <p:spPr>
          <a:xfrm>
            <a:off x="812800" y="6238239"/>
            <a:ext cx="11169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6"/>
                </a:solidFill>
                <a:latin typeface="DM Sans" pitchFamily="34" charset="0"/>
                <a:ea typeface="DM Sans" pitchFamily="34" charset="-122"/>
                <a:cs typeface="DM Sans" pitchFamily="34" charset="-120"/>
              </a:rPr>
              <a:t>SnapDocc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1760221"/>
            <a:ext cx="5755640"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4F"/>
                </a:solidFill>
                <a:latin typeface="JetBrains Mono" pitchFamily="49" charset="0"/>
                <a:ea typeface="JetBrains Mono" pitchFamily="49" charset="-122"/>
                <a:cs typeface="JetBrains Mono" pitchFamily="49" charset="-120"/>
              </a:rPr>
              <a:t>THE SAFETY NET</a:t>
            </a:r>
            <a:endParaRPr lang="en-US" sz="1400" dirty="0"/>
          </a:p>
        </p:txBody>
      </p:sp>
      <p:sp>
        <p:nvSpPr>
          <p:cNvPr id="3" name="Text 1"/>
          <p:cNvSpPr>
            <a:spLocks noGrp="1"/>
          </p:cNvSpPr>
          <p:nvPr>
            <p:ph type="title"/>
          </p:nvPr>
        </p:nvSpPr>
        <p:spPr>
          <a:xfrm>
            <a:off x="812800" y="2212339"/>
            <a:ext cx="575564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726"/>
                </a:solidFill>
                <a:latin typeface="DM Sans" pitchFamily="34" charset="0"/>
                <a:ea typeface="DM Sans" pitchFamily="34" charset="-122"/>
                <a:cs typeface="DM Sans" pitchFamily="34" charset="-120"/>
              </a:rPr>
              <a:t>Fix it before you get the file</a:t>
            </a:r>
            <a:endParaRPr lang="en-US" sz="3600" dirty="0"/>
          </a:p>
        </p:txBody>
      </p:sp>
      <p:sp>
        <p:nvSpPr>
          <p:cNvPr id="4" name="Text 2"/>
          <p:cNvSpPr/>
          <p:nvPr/>
        </p:nvSpPr>
        <p:spPr>
          <a:xfrm>
            <a:off x="876808" y="3421382"/>
            <a:ext cx="5684012" cy="1498600"/>
          </a:xfrm>
          <a:prstGeom prst="rect">
            <a:avLst/>
          </a:prstGeom>
          <a:noFill/>
          <a:ln/>
        </p:spPr>
        <p:txBody>
          <a:bodyPr wrap="square" lIns="0" tIns="0" rIns="0" bIns="0" rtlCol="0" anchor="t">
            <a:normAutofit/>
          </a:bodyPr>
          <a:lstStyle/>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Your photo sits next to the extracted table.</a:t>
            </a:r>
            <a:endParaRPr lang="en-US" sz="1600" dirty="0"/>
          </a:p>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Unsure cells are yellow until you edit them.</a:t>
            </a:r>
            <a:endParaRPr lang="en-US" sz="1600" dirty="0"/>
          </a:p>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One click corrects spelling and grammar.</a:t>
            </a:r>
            <a:endParaRPr lang="en-US" sz="1600" dirty="0"/>
          </a:p>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Add or remove rows, pick a format, press Send.</a:t>
            </a:r>
            <a:endParaRPr lang="en-US" sz="1600" dirty="0"/>
          </a:p>
          <a:p>
            <a:pPr marL="189992" indent="-189992" algn="l">
              <a:lnSpc>
                <a:spcPts val="2320"/>
              </a:lnSpc>
              <a:buSzPct val="100000"/>
              <a:buChar char="•"/>
            </a:pPr>
            <a:r>
              <a:rPr lang="en-US" sz="1600" dirty="0">
                <a:solidFill>
                  <a:srgbClr val="4A5568"/>
                </a:solidFill>
                <a:latin typeface="DM Sans" pitchFamily="34" charset="0"/>
                <a:ea typeface="DM Sans" pitchFamily="34" charset="-122"/>
                <a:cs typeface="DM Sans" pitchFamily="34" charset="-120"/>
              </a:rPr>
              <a:t>The file comes back to your WhatsApp chat.</a:t>
            </a:r>
            <a:endParaRPr lang="en-US" sz="1600" dirty="0"/>
          </a:p>
        </p:txBody>
      </p:sp>
      <p:sp>
        <p:nvSpPr>
          <p:cNvPr id="5" name="Shape 3"/>
          <p:cNvSpPr/>
          <p:nvPr/>
        </p:nvSpPr>
        <p:spPr>
          <a:xfrm>
            <a:off x="6810375" y="1656714"/>
            <a:ext cx="4565650" cy="3026410"/>
          </a:xfrm>
          <a:prstGeom prst="roundRect">
            <a:avLst>
              <a:gd name="adj" fmla="val 4091"/>
            </a:avLst>
          </a:prstGeom>
          <a:solidFill>
            <a:srgbClr val="FFFFFF"/>
          </a:solidFill>
          <a:ln w="6350">
            <a:solidFill>
              <a:srgbClr val="DCE1E6"/>
            </a:solidFill>
            <a:prstDash val="solid"/>
          </a:ln>
        </p:spPr>
        <p:txBody>
          <a:bodyPr/>
          <a:lstStyle/>
          <a:p>
            <a:endParaRPr lang="en-IN"/>
          </a:p>
        </p:txBody>
      </p:sp>
      <p:sp>
        <p:nvSpPr>
          <p:cNvPr id="6" name="Text 4"/>
          <p:cNvSpPr/>
          <p:nvPr/>
        </p:nvSpPr>
        <p:spPr>
          <a:xfrm>
            <a:off x="7015480" y="1861821"/>
            <a:ext cx="2809240" cy="452120"/>
          </a:xfrm>
          <a:prstGeom prst="roundRect">
            <a:avLst>
              <a:gd name="adj" fmla="val 14045"/>
            </a:avLst>
          </a:prstGeom>
          <a:solidFill>
            <a:srgbClr val="0E1726"/>
          </a:solidFill>
          <a:ln/>
        </p:spPr>
        <p:txBody>
          <a:bodyPr wrap="square" lIns="133801" tIns="83001" rIns="58668" bIns="57601" rtlCol="0" anchor="t">
            <a:normAutofit/>
          </a:bodyPr>
          <a:lstStyle/>
          <a:p>
            <a:pPr marL="0" indent="0" algn="l">
              <a:lnSpc>
                <a:spcPts val="1960"/>
              </a:lnSpc>
              <a:buNone/>
            </a:pPr>
            <a:r>
              <a:rPr lang="en-US" sz="1400" b="1" dirty="0">
                <a:solidFill>
                  <a:srgbClr val="F6F7F4"/>
                </a:solidFill>
                <a:latin typeface="DM Sans" pitchFamily="34" charset="0"/>
                <a:ea typeface="DM Sans" pitchFamily="34" charset="-122"/>
                <a:cs typeface="DM Sans" pitchFamily="34" charset="-120"/>
              </a:rPr>
              <a:t>Item</a:t>
            </a:r>
            <a:endParaRPr lang="en-US" sz="1400" dirty="0"/>
          </a:p>
        </p:txBody>
      </p:sp>
      <p:sp>
        <p:nvSpPr>
          <p:cNvPr id="7" name="Text 5"/>
          <p:cNvSpPr/>
          <p:nvPr/>
        </p:nvSpPr>
        <p:spPr>
          <a:xfrm>
            <a:off x="9900920" y="1861821"/>
            <a:ext cx="1270000" cy="452120"/>
          </a:xfrm>
          <a:prstGeom prst="roundRect">
            <a:avLst>
              <a:gd name="adj" fmla="val 14045"/>
            </a:avLst>
          </a:prstGeom>
          <a:solidFill>
            <a:srgbClr val="0E1726"/>
          </a:solidFill>
          <a:ln/>
        </p:spPr>
        <p:txBody>
          <a:bodyPr wrap="square" lIns="133801" tIns="83001" rIns="83001" bIns="57601" rtlCol="0" anchor="t">
            <a:normAutofit/>
          </a:bodyPr>
          <a:lstStyle/>
          <a:p>
            <a:pPr marL="0" indent="0" algn="l">
              <a:lnSpc>
                <a:spcPts val="1960"/>
              </a:lnSpc>
              <a:buNone/>
            </a:pPr>
            <a:r>
              <a:rPr lang="en-US" sz="1400" b="1" dirty="0">
                <a:solidFill>
                  <a:srgbClr val="F6F7F4"/>
                </a:solidFill>
                <a:latin typeface="DM Sans" pitchFamily="34" charset="0"/>
                <a:ea typeface="DM Sans" pitchFamily="34" charset="-122"/>
                <a:cs typeface="DM Sans" pitchFamily="34" charset="-120"/>
              </a:rPr>
              <a:t>Qty</a:t>
            </a:r>
            <a:endParaRPr lang="en-US" sz="1400" dirty="0"/>
          </a:p>
        </p:txBody>
      </p:sp>
      <p:sp>
        <p:nvSpPr>
          <p:cNvPr id="8" name="Text 6"/>
          <p:cNvSpPr/>
          <p:nvPr/>
        </p:nvSpPr>
        <p:spPr>
          <a:xfrm>
            <a:off x="7015480" y="2390139"/>
            <a:ext cx="2809240" cy="452120"/>
          </a:xfrm>
          <a:prstGeom prst="roundRect">
            <a:avLst>
              <a:gd name="adj" fmla="val 14045"/>
            </a:avLst>
          </a:prstGeom>
          <a:solidFill>
            <a:srgbClr val="EAEEEC"/>
          </a:solidFill>
          <a:ln/>
        </p:spPr>
        <p:txBody>
          <a:bodyPr wrap="square" lIns="133801" tIns="83001" rIns="58668" bIns="57601" rtlCol="0" anchor="t">
            <a:normAutofit/>
          </a:bodyPr>
          <a:lstStyle/>
          <a:p>
            <a:pPr marL="0" indent="0" algn="l">
              <a:lnSpc>
                <a:spcPts val="1960"/>
              </a:lnSpc>
              <a:buNone/>
            </a:pPr>
            <a:r>
              <a:rPr lang="en-US" sz="1400" dirty="0">
                <a:solidFill>
                  <a:srgbClr val="0E1726"/>
                </a:solidFill>
                <a:latin typeface="DM Sans" pitchFamily="34" charset="0"/>
                <a:ea typeface="DM Sans" pitchFamily="34" charset="-122"/>
                <a:cs typeface="DM Sans" pitchFamily="34" charset="-120"/>
              </a:rPr>
              <a:t>Rice</a:t>
            </a:r>
            <a:endParaRPr lang="en-US" sz="1400" dirty="0"/>
          </a:p>
        </p:txBody>
      </p:sp>
      <p:sp>
        <p:nvSpPr>
          <p:cNvPr id="9" name="Text 7"/>
          <p:cNvSpPr/>
          <p:nvPr/>
        </p:nvSpPr>
        <p:spPr>
          <a:xfrm>
            <a:off x="9900920" y="2390139"/>
            <a:ext cx="1270000" cy="452120"/>
          </a:xfrm>
          <a:prstGeom prst="roundRect">
            <a:avLst>
              <a:gd name="adj" fmla="val 14045"/>
            </a:avLst>
          </a:prstGeom>
          <a:solidFill>
            <a:srgbClr val="EAEEEC"/>
          </a:solidFill>
          <a:ln/>
        </p:spPr>
        <p:txBody>
          <a:bodyPr wrap="square" lIns="133801" tIns="83001" rIns="83001" bIns="57601" rtlCol="0" anchor="t">
            <a:normAutofit/>
          </a:bodyPr>
          <a:lstStyle/>
          <a:p>
            <a:pPr marL="0" indent="0" algn="l">
              <a:lnSpc>
                <a:spcPts val="1960"/>
              </a:lnSpc>
              <a:buNone/>
            </a:pPr>
            <a:r>
              <a:rPr lang="en-US" sz="1400" dirty="0">
                <a:solidFill>
                  <a:srgbClr val="0E1726"/>
                </a:solidFill>
                <a:latin typeface="DM Sans" pitchFamily="34" charset="0"/>
                <a:ea typeface="DM Sans" pitchFamily="34" charset="-122"/>
                <a:cs typeface="DM Sans" pitchFamily="34" charset="-120"/>
              </a:rPr>
              <a:t>2 kg</a:t>
            </a:r>
            <a:endParaRPr lang="en-US" sz="1400" dirty="0"/>
          </a:p>
        </p:txBody>
      </p:sp>
      <p:sp>
        <p:nvSpPr>
          <p:cNvPr id="10" name="Text 8"/>
          <p:cNvSpPr/>
          <p:nvPr/>
        </p:nvSpPr>
        <p:spPr>
          <a:xfrm>
            <a:off x="7015480" y="2918461"/>
            <a:ext cx="2809240" cy="452120"/>
          </a:xfrm>
          <a:prstGeom prst="roundRect">
            <a:avLst>
              <a:gd name="adj" fmla="val 14045"/>
            </a:avLst>
          </a:prstGeom>
          <a:solidFill>
            <a:srgbClr val="F5B301"/>
          </a:solidFill>
          <a:ln/>
        </p:spPr>
        <p:txBody>
          <a:bodyPr wrap="square" lIns="133801" tIns="83001" rIns="58668" bIns="57601" rtlCol="0" anchor="t">
            <a:normAutofit/>
          </a:bodyPr>
          <a:lstStyle/>
          <a:p>
            <a:pPr marL="0" indent="0" algn="l">
              <a:lnSpc>
                <a:spcPts val="1960"/>
              </a:lnSpc>
              <a:buNone/>
            </a:pPr>
            <a:r>
              <a:rPr lang="en-US" sz="1400" dirty="0">
                <a:solidFill>
                  <a:srgbClr val="0E1726"/>
                </a:solidFill>
                <a:latin typeface="DM Sans" pitchFamily="34" charset="0"/>
                <a:ea typeface="DM Sans" pitchFamily="34" charset="-122"/>
                <a:cs typeface="DM Sans" pitchFamily="34" charset="-120"/>
              </a:rPr>
              <a:t>Brown bread</a:t>
            </a:r>
            <a:endParaRPr lang="en-US" sz="1400" dirty="0"/>
          </a:p>
        </p:txBody>
      </p:sp>
      <p:sp>
        <p:nvSpPr>
          <p:cNvPr id="11" name="Text 9"/>
          <p:cNvSpPr/>
          <p:nvPr/>
        </p:nvSpPr>
        <p:spPr>
          <a:xfrm>
            <a:off x="9900920" y="2918461"/>
            <a:ext cx="1270000" cy="452120"/>
          </a:xfrm>
          <a:prstGeom prst="roundRect">
            <a:avLst>
              <a:gd name="adj" fmla="val 14045"/>
            </a:avLst>
          </a:prstGeom>
          <a:solidFill>
            <a:srgbClr val="EAEEEC"/>
          </a:solidFill>
          <a:ln/>
        </p:spPr>
        <p:txBody>
          <a:bodyPr wrap="square" lIns="133801" tIns="83001" rIns="83001" bIns="57601" rtlCol="0" anchor="t">
            <a:normAutofit/>
          </a:bodyPr>
          <a:lstStyle/>
          <a:p>
            <a:pPr marL="0" indent="0" algn="l">
              <a:lnSpc>
                <a:spcPts val="1960"/>
              </a:lnSpc>
              <a:buNone/>
            </a:pPr>
            <a:r>
              <a:rPr lang="en-US" sz="1400" dirty="0">
                <a:solidFill>
                  <a:srgbClr val="0E1726"/>
                </a:solidFill>
                <a:latin typeface="DM Sans" pitchFamily="34" charset="0"/>
                <a:ea typeface="DM Sans" pitchFamily="34" charset="-122"/>
                <a:cs typeface="DM Sans" pitchFamily="34" charset="-120"/>
              </a:rPr>
              <a:t>1</a:t>
            </a:r>
            <a:endParaRPr lang="en-US" sz="1400" dirty="0"/>
          </a:p>
        </p:txBody>
      </p:sp>
      <p:sp>
        <p:nvSpPr>
          <p:cNvPr id="12" name="Text 10"/>
          <p:cNvSpPr/>
          <p:nvPr/>
        </p:nvSpPr>
        <p:spPr>
          <a:xfrm>
            <a:off x="7015480" y="3446782"/>
            <a:ext cx="2809240" cy="452120"/>
          </a:xfrm>
          <a:prstGeom prst="roundRect">
            <a:avLst>
              <a:gd name="adj" fmla="val 14045"/>
            </a:avLst>
          </a:prstGeom>
          <a:solidFill>
            <a:srgbClr val="EAEEEC"/>
          </a:solidFill>
          <a:ln/>
        </p:spPr>
        <p:txBody>
          <a:bodyPr wrap="square" lIns="133801" tIns="83001" rIns="58668" bIns="57601" rtlCol="0" anchor="t">
            <a:normAutofit/>
          </a:bodyPr>
          <a:lstStyle/>
          <a:p>
            <a:pPr marL="0" indent="0" algn="l">
              <a:lnSpc>
                <a:spcPts val="1960"/>
              </a:lnSpc>
              <a:buNone/>
            </a:pPr>
            <a:r>
              <a:rPr lang="en-US" sz="1400" dirty="0">
                <a:solidFill>
                  <a:srgbClr val="0E1726"/>
                </a:solidFill>
                <a:latin typeface="DM Sans" pitchFamily="34" charset="0"/>
                <a:ea typeface="DM Sans" pitchFamily="34" charset="-122"/>
                <a:cs typeface="DM Sans" pitchFamily="34" charset="-120"/>
              </a:rPr>
              <a:t>Milk</a:t>
            </a:r>
            <a:endParaRPr lang="en-US" sz="1400" dirty="0"/>
          </a:p>
        </p:txBody>
      </p:sp>
      <p:sp>
        <p:nvSpPr>
          <p:cNvPr id="13" name="Text 11"/>
          <p:cNvSpPr/>
          <p:nvPr/>
        </p:nvSpPr>
        <p:spPr>
          <a:xfrm>
            <a:off x="9900920" y="3446782"/>
            <a:ext cx="1270000" cy="452120"/>
          </a:xfrm>
          <a:prstGeom prst="roundRect">
            <a:avLst>
              <a:gd name="adj" fmla="val 14045"/>
            </a:avLst>
          </a:prstGeom>
          <a:solidFill>
            <a:srgbClr val="EAEEEC"/>
          </a:solidFill>
          <a:ln/>
        </p:spPr>
        <p:txBody>
          <a:bodyPr wrap="square" lIns="133801" tIns="83001" rIns="83001" bIns="57601" rtlCol="0" anchor="t">
            <a:normAutofit/>
          </a:bodyPr>
          <a:lstStyle/>
          <a:p>
            <a:pPr marL="0" indent="0" algn="l">
              <a:lnSpc>
                <a:spcPts val="1960"/>
              </a:lnSpc>
              <a:buNone/>
            </a:pPr>
            <a:r>
              <a:rPr lang="en-US" sz="1400" dirty="0">
                <a:solidFill>
                  <a:srgbClr val="0E1726"/>
                </a:solidFill>
                <a:latin typeface="DM Sans" pitchFamily="34" charset="0"/>
                <a:ea typeface="DM Sans" pitchFamily="34" charset="-122"/>
                <a:cs typeface="DM Sans" pitchFamily="34" charset="-120"/>
              </a:rPr>
              <a:t>1 L</a:t>
            </a:r>
            <a:endParaRPr lang="en-US" sz="1400" dirty="0"/>
          </a:p>
        </p:txBody>
      </p:sp>
      <p:sp>
        <p:nvSpPr>
          <p:cNvPr id="14" name="Text 12"/>
          <p:cNvSpPr/>
          <p:nvPr/>
        </p:nvSpPr>
        <p:spPr>
          <a:xfrm>
            <a:off x="7015480" y="3975100"/>
            <a:ext cx="4155440" cy="502920"/>
          </a:xfrm>
          <a:prstGeom prst="roundRect">
            <a:avLst>
              <a:gd name="adj" fmla="val 15152"/>
            </a:avLst>
          </a:prstGeom>
          <a:solidFill>
            <a:srgbClr val="0B7A4F"/>
          </a:solidFill>
          <a:ln/>
        </p:spPr>
        <p:txBody>
          <a:bodyPr wrap="square" lIns="72322" tIns="104682" rIns="72322" bIns="79282" rtlCol="0" anchor="t">
            <a:normAutofit/>
          </a:bodyPr>
          <a:lstStyle/>
          <a:p>
            <a:pPr marL="0" indent="0" algn="ctr">
              <a:lnSpc>
                <a:spcPts val="1960"/>
              </a:lnSpc>
              <a:buNone/>
            </a:pPr>
            <a:r>
              <a:rPr lang="en-US" sz="1400" b="1" dirty="0">
                <a:solidFill>
                  <a:srgbClr val="FFFFFF"/>
                </a:solidFill>
                <a:latin typeface="DM Sans" pitchFamily="34" charset="0"/>
                <a:ea typeface="DM Sans" pitchFamily="34" charset="-122"/>
                <a:cs typeface="DM Sans" pitchFamily="34" charset="-120"/>
              </a:rPr>
              <a:t>Send to my WhatsApp</a:t>
            </a:r>
            <a:endParaRPr lang="en-US" sz="1400" dirty="0"/>
          </a:p>
        </p:txBody>
      </p:sp>
      <p:sp>
        <p:nvSpPr>
          <p:cNvPr id="15" name="Text 13"/>
          <p:cNvSpPr/>
          <p:nvPr/>
        </p:nvSpPr>
        <p:spPr>
          <a:xfrm>
            <a:off x="6807200" y="4787900"/>
            <a:ext cx="47091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Illustration, not real data. Yellow = low confidence.</a:t>
            </a:r>
            <a:endParaRPr lang="en-US" sz="1200" dirty="0"/>
          </a:p>
        </p:txBody>
      </p:sp>
      <p:sp>
        <p:nvSpPr>
          <p:cNvPr id="16" name="Text 14"/>
          <p:cNvSpPr/>
          <p:nvPr/>
        </p:nvSpPr>
        <p:spPr>
          <a:xfrm>
            <a:off x="812800" y="6238239"/>
            <a:ext cx="10996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SnapDocc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600" b="1" kern="0" spc="150" dirty="0">
                <a:solidFill>
                  <a:srgbClr val="2DD4A0"/>
                </a:solidFill>
                <a:latin typeface="JetBrains Mono" pitchFamily="49" charset="0"/>
                <a:ea typeface="JetBrains Mono" pitchFamily="49" charset="-122"/>
                <a:cs typeface="JetBrains Mono" pitchFamily="49" charset="-120"/>
              </a:rPr>
              <a:t>SAFETY AND CARE</a:t>
            </a:r>
            <a:endParaRPr lang="en-US" sz="1600" dirty="0"/>
          </a:p>
        </p:txBody>
      </p:sp>
      <p:sp>
        <p:nvSpPr>
          <p:cNvPr id="3" name="Text 1"/>
          <p:cNvSpPr>
            <a:spLocks noGrp="1"/>
          </p:cNvSpPr>
          <p:nvPr>
            <p:ph type="title"/>
          </p:nvPr>
        </p:nvSpPr>
        <p:spPr>
          <a:xfrm>
            <a:off x="812800" y="1163321"/>
            <a:ext cx="10883392" cy="574040"/>
          </a:xfrm>
          <a:prstGeom prst="rect">
            <a:avLst/>
          </a:prstGeom>
          <a:noFill/>
          <a:ln/>
        </p:spPr>
        <p:txBody>
          <a:bodyPr wrap="square" lIns="0" tIns="0" rIns="0" bIns="0" rtlCol="0" anchor="t">
            <a:normAutofit/>
          </a:bodyPr>
          <a:lstStyle/>
          <a:p>
            <a:pPr marL="0" indent="0" algn="l">
              <a:lnSpc>
                <a:spcPts val="4320"/>
              </a:lnSpc>
              <a:buNone/>
            </a:pPr>
            <a:r>
              <a:rPr lang="en-US" sz="4000" b="1" i="0" dirty="0">
                <a:solidFill>
                  <a:srgbClr val="F6F7F4"/>
                </a:solidFill>
                <a:latin typeface="DM Sans" pitchFamily="34" charset="0"/>
                <a:ea typeface="DM Sans" pitchFamily="34" charset="-122"/>
                <a:cs typeface="DM Sans" pitchFamily="34" charset="-120"/>
              </a:rPr>
              <a:t>Built to handle other people's data</a:t>
            </a:r>
            <a:endParaRPr lang="en-US" sz="4000" dirty="0"/>
          </a:p>
        </p:txBody>
      </p:sp>
      <p:sp>
        <p:nvSpPr>
          <p:cNvPr id="4" name="Shape 2"/>
          <p:cNvSpPr/>
          <p:nvPr/>
        </p:nvSpPr>
        <p:spPr>
          <a:xfrm>
            <a:off x="815975" y="2776857"/>
            <a:ext cx="5175250" cy="1426210"/>
          </a:xfrm>
          <a:prstGeom prst="roundRect">
            <a:avLst>
              <a:gd name="adj" fmla="val 8682"/>
            </a:avLst>
          </a:prstGeom>
          <a:solidFill>
            <a:srgbClr val="16233A"/>
          </a:solidFill>
          <a:ln w="6350">
            <a:solidFill>
              <a:srgbClr val="2A3B57"/>
            </a:solidFill>
            <a:prstDash val="solid"/>
          </a:ln>
        </p:spPr>
        <p:txBody>
          <a:bodyPr/>
          <a:lstStyle/>
          <a:p>
            <a:endParaRPr lang="en-IN"/>
          </a:p>
        </p:txBody>
      </p:sp>
      <p:sp>
        <p:nvSpPr>
          <p:cNvPr id="5" name="Text 3"/>
          <p:cNvSpPr/>
          <p:nvPr/>
        </p:nvSpPr>
        <p:spPr>
          <a:xfrm>
            <a:off x="1071880" y="3032761"/>
            <a:ext cx="48033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D4A0"/>
                </a:solidFill>
                <a:latin typeface="DM Sans" pitchFamily="34" charset="0"/>
                <a:ea typeface="DM Sans" pitchFamily="34" charset="-122"/>
                <a:cs typeface="DM Sans" pitchFamily="34" charset="-120"/>
              </a:rPr>
              <a:t>Private links</a:t>
            </a:r>
            <a:endParaRPr lang="en-US" sz="2000" dirty="0"/>
          </a:p>
        </p:txBody>
      </p:sp>
      <p:sp>
        <p:nvSpPr>
          <p:cNvPr id="6" name="Text 4"/>
          <p:cNvSpPr/>
          <p:nvPr/>
        </p:nvSpPr>
        <p:spPr>
          <a:xfrm>
            <a:off x="1071880" y="3413761"/>
            <a:ext cx="480334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4D6"/>
                </a:solidFill>
                <a:latin typeface="DM Sans" pitchFamily="34" charset="0"/>
                <a:ea typeface="DM Sans" pitchFamily="34" charset="-122"/>
                <a:cs typeface="DM Sans" pitchFamily="34" charset="-120"/>
              </a:rPr>
              <a:t>Random tokens for edit pages and file folders. Edit links expire after 24 hours.</a:t>
            </a:r>
            <a:endParaRPr lang="en-US" sz="1500" dirty="0"/>
          </a:p>
        </p:txBody>
      </p:sp>
      <p:sp>
        <p:nvSpPr>
          <p:cNvPr id="7" name="Shape 5"/>
          <p:cNvSpPr/>
          <p:nvPr/>
        </p:nvSpPr>
        <p:spPr>
          <a:xfrm>
            <a:off x="6200775" y="2776857"/>
            <a:ext cx="5175250" cy="1426210"/>
          </a:xfrm>
          <a:prstGeom prst="roundRect">
            <a:avLst>
              <a:gd name="adj" fmla="val 8682"/>
            </a:avLst>
          </a:prstGeom>
          <a:solidFill>
            <a:srgbClr val="16233A"/>
          </a:solidFill>
          <a:ln w="6350">
            <a:solidFill>
              <a:srgbClr val="2A3B57"/>
            </a:solidFill>
            <a:prstDash val="solid"/>
          </a:ln>
        </p:spPr>
        <p:txBody>
          <a:bodyPr/>
          <a:lstStyle/>
          <a:p>
            <a:endParaRPr lang="en-IN"/>
          </a:p>
        </p:txBody>
      </p:sp>
      <p:sp>
        <p:nvSpPr>
          <p:cNvPr id="8" name="Text 6"/>
          <p:cNvSpPr/>
          <p:nvPr/>
        </p:nvSpPr>
        <p:spPr>
          <a:xfrm>
            <a:off x="6456680" y="3032761"/>
            <a:ext cx="48033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D4A0"/>
                </a:solidFill>
                <a:latin typeface="DM Sans" pitchFamily="34" charset="0"/>
                <a:ea typeface="DM Sans" pitchFamily="34" charset="-122"/>
                <a:cs typeface="DM Sans" pitchFamily="34" charset="-120"/>
              </a:rPr>
              <a:t>Automatic cleanup</a:t>
            </a:r>
            <a:endParaRPr lang="en-US" sz="2000" dirty="0"/>
          </a:p>
        </p:txBody>
      </p:sp>
      <p:sp>
        <p:nvSpPr>
          <p:cNvPr id="9" name="Text 7"/>
          <p:cNvSpPr/>
          <p:nvPr/>
        </p:nvSpPr>
        <p:spPr>
          <a:xfrm>
            <a:off x="6456680" y="3413761"/>
            <a:ext cx="491617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4D6"/>
                </a:solidFill>
                <a:latin typeface="DM Sans" pitchFamily="34" charset="0"/>
                <a:ea typeface="DM Sans" pitchFamily="34" charset="-122"/>
                <a:cs typeface="DM Sans" pitchFamily="34" charset="-120"/>
              </a:rPr>
              <a:t>Photos, files and old links are deleted on a schedule.</a:t>
            </a:r>
            <a:endParaRPr lang="en-US" sz="1500" dirty="0"/>
          </a:p>
        </p:txBody>
      </p:sp>
      <p:sp>
        <p:nvSpPr>
          <p:cNvPr id="10" name="Shape 8"/>
          <p:cNvSpPr/>
          <p:nvPr/>
        </p:nvSpPr>
        <p:spPr>
          <a:xfrm>
            <a:off x="815975" y="4412617"/>
            <a:ext cx="5175250" cy="1426210"/>
          </a:xfrm>
          <a:prstGeom prst="roundRect">
            <a:avLst>
              <a:gd name="adj" fmla="val 8682"/>
            </a:avLst>
          </a:prstGeom>
          <a:solidFill>
            <a:srgbClr val="16233A"/>
          </a:solidFill>
          <a:ln w="6350">
            <a:solidFill>
              <a:srgbClr val="2A3B57"/>
            </a:solidFill>
            <a:prstDash val="solid"/>
          </a:ln>
        </p:spPr>
        <p:txBody>
          <a:bodyPr/>
          <a:lstStyle/>
          <a:p>
            <a:endParaRPr lang="en-IN"/>
          </a:p>
        </p:txBody>
      </p:sp>
      <p:sp>
        <p:nvSpPr>
          <p:cNvPr id="11" name="Text 9"/>
          <p:cNvSpPr/>
          <p:nvPr/>
        </p:nvSpPr>
        <p:spPr>
          <a:xfrm>
            <a:off x="1071880" y="4668521"/>
            <a:ext cx="48033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D4A0"/>
                </a:solidFill>
                <a:latin typeface="DM Sans" pitchFamily="34" charset="0"/>
                <a:ea typeface="DM Sans" pitchFamily="34" charset="-122"/>
                <a:cs typeface="DM Sans" pitchFamily="34" charset="-120"/>
              </a:rPr>
              <a:t>Safe spreadsheets</a:t>
            </a:r>
            <a:endParaRPr lang="en-US" sz="2000" dirty="0"/>
          </a:p>
        </p:txBody>
      </p:sp>
      <p:sp>
        <p:nvSpPr>
          <p:cNvPr id="12" name="Text 10"/>
          <p:cNvSpPr/>
          <p:nvPr/>
        </p:nvSpPr>
        <p:spPr>
          <a:xfrm>
            <a:off x="1071880" y="5049521"/>
            <a:ext cx="480334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4D6"/>
                </a:solidFill>
                <a:latin typeface="DM Sans" pitchFamily="34" charset="0"/>
                <a:ea typeface="DM Sans" pitchFamily="34" charset="-122"/>
                <a:cs typeface="DM Sans" pitchFamily="34" charset="-120"/>
              </a:rPr>
              <a:t>Cells that start like a formula are neutralised in Excel and CSV.</a:t>
            </a:r>
            <a:endParaRPr lang="en-US" sz="1500" dirty="0"/>
          </a:p>
        </p:txBody>
      </p:sp>
      <p:sp>
        <p:nvSpPr>
          <p:cNvPr id="13" name="Shape 11"/>
          <p:cNvSpPr/>
          <p:nvPr/>
        </p:nvSpPr>
        <p:spPr>
          <a:xfrm>
            <a:off x="6200775" y="4412617"/>
            <a:ext cx="5175250" cy="1426210"/>
          </a:xfrm>
          <a:prstGeom prst="roundRect">
            <a:avLst>
              <a:gd name="adj" fmla="val 8682"/>
            </a:avLst>
          </a:prstGeom>
          <a:solidFill>
            <a:srgbClr val="16233A"/>
          </a:solidFill>
          <a:ln w="6350">
            <a:solidFill>
              <a:srgbClr val="2A3B57"/>
            </a:solidFill>
            <a:prstDash val="solid"/>
          </a:ln>
        </p:spPr>
        <p:txBody>
          <a:bodyPr/>
          <a:lstStyle/>
          <a:p>
            <a:endParaRPr lang="en-IN"/>
          </a:p>
        </p:txBody>
      </p:sp>
      <p:sp>
        <p:nvSpPr>
          <p:cNvPr id="14" name="Text 12"/>
          <p:cNvSpPr/>
          <p:nvPr/>
        </p:nvSpPr>
        <p:spPr>
          <a:xfrm>
            <a:off x="6456680" y="4668521"/>
            <a:ext cx="48033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D4A0"/>
                </a:solidFill>
                <a:latin typeface="DM Sans" pitchFamily="34" charset="0"/>
                <a:ea typeface="DM Sans" pitchFamily="34" charset="-122"/>
                <a:cs typeface="DM Sans" pitchFamily="34" charset="-120"/>
              </a:rPr>
              <a:t>Input checks</a:t>
            </a:r>
            <a:endParaRPr lang="en-US" sz="2000" dirty="0"/>
          </a:p>
        </p:txBody>
      </p:sp>
      <p:sp>
        <p:nvSpPr>
          <p:cNvPr id="15" name="Text 13"/>
          <p:cNvSpPr/>
          <p:nvPr/>
        </p:nvSpPr>
        <p:spPr>
          <a:xfrm>
            <a:off x="6456680" y="5049521"/>
            <a:ext cx="480334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4D6"/>
                </a:solidFill>
                <a:latin typeface="DM Sans" pitchFamily="34" charset="0"/>
                <a:ea typeface="DM Sans" pitchFamily="34" charset="-122"/>
                <a:cs typeface="DM Sans" pitchFamily="34" charset="-120"/>
              </a:rPr>
              <a:t>5 MB image limit, invalid files rejected, sessions expire.</a:t>
            </a:r>
            <a:endParaRPr lang="en-US" sz="1500" dirty="0"/>
          </a:p>
        </p:txBody>
      </p:sp>
      <p:sp>
        <p:nvSpPr>
          <p:cNvPr id="16" name="Text 14"/>
          <p:cNvSpPr/>
          <p:nvPr/>
        </p:nvSpPr>
        <p:spPr>
          <a:xfrm>
            <a:off x="812800" y="6238242"/>
            <a:ext cx="11132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6"/>
                </a:solidFill>
                <a:latin typeface="DM Sans" pitchFamily="34" charset="0"/>
                <a:ea typeface="DM Sans" pitchFamily="34" charset="-122"/>
                <a:cs typeface="DM Sans" pitchFamily="34" charset="-120"/>
              </a:rPr>
              <a:t>SnapDocc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B7A4F"/>
                </a:solidFill>
                <a:latin typeface="JetBrains Mono" pitchFamily="49" charset="0"/>
                <a:ea typeface="JetBrains Mono" pitchFamily="49" charset="-122"/>
                <a:cs typeface="JetBrains Mono" pitchFamily="49" charset="-120"/>
              </a:rPr>
              <a:t>HONEST LIMITS AND NEXT STEPS</a:t>
            </a:r>
            <a:endParaRPr lang="en-US" sz="1400" dirty="0"/>
          </a:p>
        </p:txBody>
      </p:sp>
      <p:sp>
        <p:nvSpPr>
          <p:cNvPr id="3" name="Text 1"/>
          <p:cNvSpPr>
            <a:spLocks noGrp="1"/>
          </p:cNvSpPr>
          <p:nvPr>
            <p:ph type="title"/>
          </p:nvPr>
        </p:nvSpPr>
        <p:spPr>
          <a:xfrm>
            <a:off x="812800" y="1163321"/>
            <a:ext cx="10883392" cy="574040"/>
          </a:xfrm>
          <a:prstGeom prst="rect">
            <a:avLst/>
          </a:prstGeom>
          <a:noFill/>
          <a:ln/>
        </p:spPr>
        <p:txBody>
          <a:bodyPr wrap="square" lIns="0" tIns="0" rIns="0" bIns="0" rtlCol="0" anchor="t">
            <a:normAutofit/>
          </a:bodyPr>
          <a:lstStyle/>
          <a:p>
            <a:pPr marL="0" indent="0" algn="l">
              <a:lnSpc>
                <a:spcPts val="4320"/>
              </a:lnSpc>
              <a:buNone/>
            </a:pPr>
            <a:r>
              <a:rPr lang="en-US" sz="4000" b="1" i="0" dirty="0">
                <a:solidFill>
                  <a:srgbClr val="0E1726"/>
                </a:solidFill>
                <a:latin typeface="DM Sans" pitchFamily="34" charset="0"/>
                <a:ea typeface="DM Sans" pitchFamily="34" charset="-122"/>
                <a:cs typeface="DM Sans" pitchFamily="34" charset="-120"/>
              </a:rPr>
              <a:t>What it does not do yet</a:t>
            </a:r>
            <a:endParaRPr lang="en-US" sz="4000" dirty="0"/>
          </a:p>
        </p:txBody>
      </p:sp>
      <p:sp>
        <p:nvSpPr>
          <p:cNvPr id="4" name="Shape 2"/>
          <p:cNvSpPr/>
          <p:nvPr/>
        </p:nvSpPr>
        <p:spPr>
          <a:xfrm>
            <a:off x="812800" y="2400680"/>
            <a:ext cx="5175250" cy="2383790"/>
          </a:xfrm>
          <a:prstGeom prst="roundRect">
            <a:avLst>
              <a:gd name="adj" fmla="val 5194"/>
            </a:avLst>
          </a:prstGeom>
          <a:solidFill>
            <a:srgbClr val="FFFFFF"/>
          </a:solidFill>
          <a:ln w="6350">
            <a:solidFill>
              <a:srgbClr val="DCE1E6"/>
            </a:solidFill>
            <a:prstDash val="solid"/>
          </a:ln>
        </p:spPr>
        <p:txBody>
          <a:bodyPr/>
          <a:lstStyle/>
          <a:p>
            <a:endParaRPr lang="en-IN"/>
          </a:p>
        </p:txBody>
      </p:sp>
      <p:sp>
        <p:nvSpPr>
          <p:cNvPr id="5" name="Text 3"/>
          <p:cNvSpPr/>
          <p:nvPr/>
        </p:nvSpPr>
        <p:spPr>
          <a:xfrm>
            <a:off x="1119505" y="2707383"/>
            <a:ext cx="4698695"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E1726"/>
                </a:solidFill>
                <a:latin typeface="DM Sans" pitchFamily="34" charset="0"/>
                <a:ea typeface="DM Sans" pitchFamily="34" charset="-122"/>
                <a:cs typeface="DM Sans" pitchFamily="34" charset="-120"/>
              </a:rPr>
              <a:t>Limits today</a:t>
            </a:r>
            <a:endParaRPr lang="en-US" sz="2200" dirty="0"/>
          </a:p>
        </p:txBody>
      </p:sp>
      <p:sp>
        <p:nvSpPr>
          <p:cNvPr id="6" name="Text 4"/>
          <p:cNvSpPr/>
          <p:nvPr/>
        </p:nvSpPr>
        <p:spPr>
          <a:xfrm>
            <a:off x="1190625" y="3144262"/>
            <a:ext cx="4619955"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Free Twilio sandbox: rejoin every 72 hours.</a:t>
            </a:r>
            <a:endParaRPr lang="en-US" sz="1500" dirty="0"/>
          </a:p>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Render free tier sleeps and forgets files on restart.</a:t>
            </a:r>
            <a:endParaRPr lang="en-US" sz="1500" dirty="0"/>
          </a:p>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No accuracy figure on real handwriting yet.</a:t>
            </a:r>
            <a:endParaRPr lang="en-US" sz="1500" dirty="0"/>
          </a:p>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Very messy photos can still be misread.</a:t>
            </a:r>
            <a:endParaRPr lang="en-US" sz="1500" dirty="0"/>
          </a:p>
        </p:txBody>
      </p:sp>
      <p:sp>
        <p:nvSpPr>
          <p:cNvPr id="7" name="Shape 5"/>
          <p:cNvSpPr/>
          <p:nvPr/>
        </p:nvSpPr>
        <p:spPr>
          <a:xfrm>
            <a:off x="6200775" y="3455039"/>
            <a:ext cx="5175250" cy="2383790"/>
          </a:xfrm>
          <a:prstGeom prst="roundRect">
            <a:avLst>
              <a:gd name="adj" fmla="val 5194"/>
            </a:avLst>
          </a:prstGeom>
          <a:solidFill>
            <a:srgbClr val="FFFFFF"/>
          </a:solidFill>
          <a:ln w="6350">
            <a:solidFill>
              <a:srgbClr val="0B7A4F"/>
            </a:solidFill>
            <a:prstDash val="solid"/>
          </a:ln>
        </p:spPr>
        <p:txBody>
          <a:bodyPr/>
          <a:lstStyle/>
          <a:p>
            <a:endParaRPr lang="en-IN"/>
          </a:p>
        </p:txBody>
      </p:sp>
      <p:sp>
        <p:nvSpPr>
          <p:cNvPr id="8" name="Text 6"/>
          <p:cNvSpPr/>
          <p:nvPr/>
        </p:nvSpPr>
        <p:spPr>
          <a:xfrm>
            <a:off x="6507480" y="3761742"/>
            <a:ext cx="4698695"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B7A4F"/>
                </a:solidFill>
                <a:latin typeface="DM Sans" pitchFamily="34" charset="0"/>
                <a:ea typeface="DM Sans" pitchFamily="34" charset="-122"/>
                <a:cs typeface="DM Sans" pitchFamily="34" charset="-120"/>
              </a:rPr>
              <a:t>Next steps</a:t>
            </a:r>
            <a:endParaRPr lang="en-US" sz="2200" dirty="0"/>
          </a:p>
        </p:txBody>
      </p:sp>
      <p:sp>
        <p:nvSpPr>
          <p:cNvPr id="9" name="Text 7"/>
          <p:cNvSpPr/>
          <p:nvPr/>
        </p:nvSpPr>
        <p:spPr>
          <a:xfrm>
            <a:off x="6578600" y="4198621"/>
            <a:ext cx="4619955"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Benchmark on real handwritten photos.</a:t>
            </a:r>
            <a:endParaRPr lang="en-US" sz="1500" dirty="0"/>
          </a:p>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Hindi and Marathi support.</a:t>
            </a:r>
            <a:endParaRPr lang="en-US" sz="1500" dirty="0"/>
          </a:p>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Multi-page documents.</a:t>
            </a:r>
            <a:endParaRPr lang="en-US" sz="1500" dirty="0"/>
          </a:p>
          <a:p>
            <a:pPr marL="182880" indent="-182880" algn="l">
              <a:lnSpc>
                <a:spcPts val="2100"/>
              </a:lnSpc>
              <a:buSzPct val="100000"/>
              <a:buChar char="•"/>
            </a:pPr>
            <a:r>
              <a:rPr lang="en-US" sz="1500" dirty="0">
                <a:solidFill>
                  <a:srgbClr val="4A5568"/>
                </a:solidFill>
                <a:latin typeface="DM Sans" pitchFamily="34" charset="0"/>
                <a:ea typeface="DM Sans" pitchFamily="34" charset="-122"/>
                <a:cs typeface="DM Sans" pitchFamily="34" charset="-120"/>
              </a:rPr>
              <a:t>A real WhatsApp Business sender and a persistent database.</a:t>
            </a:r>
            <a:endParaRPr lang="en-US" sz="1500" dirty="0"/>
          </a:p>
        </p:txBody>
      </p:sp>
      <p:sp>
        <p:nvSpPr>
          <p:cNvPr id="10" name="Text 8"/>
          <p:cNvSpPr/>
          <p:nvPr/>
        </p:nvSpPr>
        <p:spPr>
          <a:xfrm>
            <a:off x="812800" y="6238242"/>
            <a:ext cx="11161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SnapDocc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495808" y="3116425"/>
            <a:ext cx="10654274" cy="1045028"/>
          </a:xfrm>
          <a:prstGeom prst="rect">
            <a:avLst/>
          </a:prstGeom>
          <a:noFill/>
          <a:ln/>
        </p:spPr>
        <p:txBody>
          <a:bodyPr wrap="square" lIns="0" tIns="0" rIns="0" bIns="0" rtlCol="0" anchor="t">
            <a:noAutofit/>
          </a:bodyPr>
          <a:lstStyle/>
          <a:p>
            <a:pPr marL="0" indent="0" algn="l">
              <a:lnSpc>
                <a:spcPts val="1960"/>
              </a:lnSpc>
              <a:buNone/>
            </a:pPr>
            <a:r>
              <a:rPr lang="en-US" sz="13800" b="1" kern="0" spc="200" dirty="0">
                <a:solidFill>
                  <a:srgbClr val="2DD4A0"/>
                </a:solidFill>
                <a:latin typeface="Aharoni" panose="02010803020104030203" pitchFamily="2" charset="-79"/>
                <a:ea typeface="JetBrains Mono" pitchFamily="49" charset="-122"/>
                <a:cs typeface="Aharoni" panose="02010803020104030203" pitchFamily="2" charset="-79"/>
              </a:rPr>
              <a:t>THANK YOU</a:t>
            </a:r>
            <a:endParaRPr lang="en-US" sz="13800" dirty="0">
              <a:latin typeface="Aharoni" panose="02010803020104030203" pitchFamily="2" charset="-79"/>
              <a:cs typeface="Aharoni" panose="02010803020104030203" pitchFamily="2" charset="-79"/>
            </a:endParaRPr>
          </a:p>
        </p:txBody>
      </p:sp>
      <p:sp>
        <p:nvSpPr>
          <p:cNvPr id="4" name="Text 2"/>
          <p:cNvSpPr/>
          <p:nvPr/>
        </p:nvSpPr>
        <p:spPr>
          <a:xfrm>
            <a:off x="812800" y="3646869"/>
            <a:ext cx="9156700"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8C4D6"/>
                </a:solidFill>
                <a:latin typeface="DM Sans" pitchFamily="34" charset="0"/>
                <a:ea typeface="DM Sans" pitchFamily="34" charset="-122"/>
                <a:cs typeface="DM Sans" pitchFamily="34" charset="-120"/>
              </a:rPr>
              <a:t>Send a photo to the bot and watch it turn into a file.</a:t>
            </a:r>
            <a:endParaRPr lang="en-US" sz="2200" dirty="0"/>
          </a:p>
        </p:txBody>
      </p:sp>
      <p:sp>
        <p:nvSpPr>
          <p:cNvPr id="5" name="Text 3"/>
          <p:cNvSpPr/>
          <p:nvPr/>
        </p:nvSpPr>
        <p:spPr>
          <a:xfrm>
            <a:off x="812800" y="440182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7F4"/>
                </a:solidFill>
                <a:latin typeface="Abadi" panose="020B0604020104020204" pitchFamily="34" charset="0"/>
                <a:ea typeface="JetBrains Mono" pitchFamily="49" charset="-122"/>
                <a:cs typeface="JetBrains Mono" pitchFamily="49" charset="-120"/>
              </a:rPr>
              <a:t>snapdocc-web-app.onrender.com</a:t>
            </a:r>
            <a:endParaRPr lang="en-US" sz="1500" dirty="0">
              <a:latin typeface="Abadi" panose="020B0604020104020204" pitchFamily="34" charset="0"/>
            </a:endParaRPr>
          </a:p>
        </p:txBody>
      </p:sp>
      <p:sp>
        <p:nvSpPr>
          <p:cNvPr id="6" name="Text 4"/>
          <p:cNvSpPr/>
          <p:nvPr/>
        </p:nvSpPr>
        <p:spPr>
          <a:xfrm>
            <a:off x="812800" y="4775045"/>
            <a:ext cx="10883392" cy="292100"/>
          </a:xfrm>
          <a:prstGeom prst="rect">
            <a:avLst/>
          </a:prstGeom>
          <a:noFill/>
          <a:ln/>
        </p:spPr>
        <p:txBody>
          <a:bodyPr wrap="square" lIns="0" tIns="0" rIns="0" bIns="0" rtlCol="0" anchor="t">
            <a:normAutofit/>
          </a:bodyPr>
          <a:lstStyle/>
          <a:p>
            <a:pPr>
              <a:lnSpc>
                <a:spcPts val="2100"/>
              </a:lnSpc>
            </a:pPr>
            <a:r>
              <a:rPr lang="en-US" sz="1400" dirty="0">
                <a:solidFill>
                  <a:srgbClr val="F6F7F4"/>
                </a:solidFill>
                <a:latin typeface="Abadi" panose="020B0604020104020204" pitchFamily="34" charset="0"/>
                <a:ea typeface="JetBrains Mono" pitchFamily="49" charset="-122"/>
              </a:rPr>
              <a:t>https://github.com/Aditya-Divekar/snapdocc_web_app</a:t>
            </a:r>
          </a:p>
        </p:txBody>
      </p:sp>
    </p:spTree>
  </p:cSld>
  <p:clrMapOvr>
    <a:masterClrMapping/>
  </p:clrMapOvr>
</p:sld>
</file>

<file path=ppt/theme/theme1.xml><?xml version="1.0" encoding="utf-8"?>
<a:theme xmlns:a="http://schemas.openxmlformats.org/drawingml/2006/main" name="SnapDocc: WhatsApp Document Digitization Bot">
  <a:themeElements>
    <a:clrScheme name="SnapDocc: WhatsApp Document Digitization Bot">
      <a:dk1>
        <a:srgbClr val="0E1726"/>
      </a:dk1>
      <a:lt1>
        <a:srgbClr val="F6F7F4"/>
      </a:lt1>
      <a:dk2>
        <a:srgbClr val="252D3B"/>
      </a:dk2>
      <a:lt2>
        <a:srgbClr val="BCBFC1"/>
      </a:lt2>
      <a:accent1>
        <a:srgbClr val="2DD4A0"/>
      </a:accent1>
      <a:accent2>
        <a:srgbClr val="0B7A4F"/>
      </a:accent2>
      <a:accent3>
        <a:srgbClr val="F5B301"/>
      </a:accent3>
      <a:accent4>
        <a:srgbClr val="B8C4D6"/>
      </a:accent4>
      <a:accent5>
        <a:srgbClr val="4A5568"/>
      </a:accent5>
      <a:accent6>
        <a:srgbClr val="9AA0A6"/>
      </a:accent6>
      <a:hlink>
        <a:srgbClr val="0563C1"/>
      </a:hlink>
      <a:folHlink>
        <a:srgbClr val="954F72"/>
      </a:folHlink>
    </a:clrScheme>
    <a:fontScheme name="SnapDocc: WhatsApp Document Digitization Bo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1285</Words>
  <Application>Microsoft Office PowerPoint</Application>
  <PresentationFormat>Widescreen</PresentationFormat>
  <Paragraphs>119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Abadi</vt:lpstr>
      <vt:lpstr>Aharoni</vt:lpstr>
      <vt:lpstr>Arial</vt:lpstr>
      <vt:lpstr>DM Sans</vt:lpstr>
      <vt:lpstr>JetBrains Mono</vt:lpstr>
      <vt:lpstr>SnapDocc: WhatsApp Document Digitization Bot</vt:lpstr>
      <vt:lpstr>SnapDocc.</vt:lpstr>
      <vt:lpstr>Paper data stays stuck on paper</vt:lpstr>
      <vt:lpstr>One photo, three steps</vt:lpstr>
      <vt:lpstr>How it fits together</vt:lpstr>
      <vt:lpstr>Six small parts, one job each</vt:lpstr>
      <vt:lpstr>Qwen first, Tesseract as backup</vt:lpstr>
      <vt:lpstr>Fix it before you get the file</vt:lpstr>
      <vt:lpstr>Built to handle other people's data</vt:lpstr>
      <vt:lpstr>What it does not do yet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SnapDocc: WhatsApp Document Digitization Bot</dc:title>
  <dc:subject/>
  <dc:creator>Aditya Divekar</dc:creator>
  <cp:lastModifiedBy>Aditya Divekar</cp:lastModifiedBy>
  <cp:revision>2</cp:revision>
  <dcterms:created xsi:type="dcterms:W3CDTF">2026-10-13T12:13:25Z</dcterms:created>
  <dcterms:modified xsi:type="dcterms:W3CDTF">2026-10-19T06:19:22Z</dcterms:modified>
</cp:coreProperties>
</file>